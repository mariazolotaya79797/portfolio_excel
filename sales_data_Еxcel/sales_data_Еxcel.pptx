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Ex1.xml" ContentType="application/vnd.ms-office.chartex+xml"/>
  <Override PartName="/ppt/charts/style12.xml" ContentType="application/vnd.ms-office.chartstyle+xml"/>
  <Override PartName="/ppt/charts/colors12.xml" ContentType="application/vnd.ms-office.chartcolorstyle+xml"/>
  <Override PartName="/ppt/charts/chartEx2.xml" ContentType="application/vnd.ms-office.chartex+xml"/>
  <Override PartName="/ppt/charts/style13.xml" ContentType="application/vnd.ms-office.chartstyle+xml"/>
  <Override PartName="/ppt/charts/colors1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0" r:id="rId3"/>
    <p:sldId id="267" r:id="rId4"/>
    <p:sldId id="259" r:id="rId5"/>
    <p:sldId id="261" r:id="rId6"/>
    <p:sldId id="263" r:id="rId7"/>
    <p:sldId id="268" r:id="rId8"/>
    <p:sldId id="262" r:id="rId9"/>
    <p:sldId id="264" r:id="rId10"/>
    <p:sldId id="266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00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77" autoAdjust="0"/>
    <p:restoredTop sz="90578" autoAdjust="0"/>
  </p:normalViewPr>
  <p:slideViewPr>
    <p:cSldViewPr snapToGrid="0">
      <p:cViewPr varScale="1">
        <p:scale>
          <a:sx n="99" d="100"/>
          <a:sy n="99" d="100"/>
        </p:scale>
        <p:origin x="72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olot\Desktop\Excel\&#1044;&#1047;%20&#1059;&#1088;&#1086;&#1082;%2011%20&#1080;&#1089;&#1093;&#1086;&#1076;&#1085;&#1099;&#1077;%20&#1076;&#1072;&#1085;&#1085;&#1099;&#1077;%20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olot\Desktop\Excel\&#1044;&#1047;%20&#1059;&#1088;&#1086;&#1082;%2011%20&#1080;&#1089;&#1093;&#1086;&#1076;&#1085;&#1099;&#1077;%20&#1076;&#1072;&#1085;&#1085;&#1099;&#1077;%20(1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olot\Desktop\Excel\&#1044;&#1047;%20&#1059;&#1088;&#1086;&#1082;%2011%20&#1080;&#1089;&#1093;&#1086;&#1076;&#1085;&#1099;&#1077;%20&#1076;&#1072;&#1085;&#1085;&#1099;&#1077;%20(1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olot\Desktop\Excel\&#1044;&#1047;%20&#1059;&#1088;&#1086;&#1082;%2011%20&#1080;&#1089;&#1093;&#1086;&#1076;&#1085;&#1099;&#1077;%20&#1076;&#1072;&#1085;&#1085;&#1099;&#1077;%20(1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olot\Desktop\Excel\&#1044;&#1047;%20&#1059;&#1088;&#1086;&#1082;%2011%20&#1080;&#1089;&#1093;&#1086;&#1076;&#1085;&#1099;&#1077;%20&#1076;&#1072;&#1085;&#1085;&#1099;&#1077;%20(1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olot\Desktop\Excel\&#1044;&#1047;%20&#1059;&#1088;&#1086;&#1082;%2011%20&#1080;&#1089;&#1093;&#1086;&#1076;&#1085;&#1099;&#1077;%20&#1076;&#1072;&#1085;&#1085;&#1099;&#1077;%20(1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olot\Desktop\Excel\&#1044;&#1047;%20&#1059;&#1088;&#1086;&#1082;%2011%20&#1080;&#1089;&#1093;&#1086;&#1076;&#1085;&#1099;&#1077;%20&#1076;&#1072;&#1085;&#1085;&#1099;&#1077;%20(1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olot\Desktop\Excel\&#1044;&#1047;%20&#1059;&#1088;&#1086;&#1082;%2011%20&#1080;&#1089;&#1093;&#1086;&#1076;&#1085;&#1099;&#1077;%20&#1076;&#1072;&#1085;&#1085;&#1099;&#1077;%20(1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olot\Desktop\Excel\&#1044;&#1047;%20&#1059;&#1088;&#1086;&#1082;%2011%20&#1080;&#1089;&#1093;&#1086;&#1076;&#1085;&#1099;&#1077;%20&#1076;&#1072;&#1085;&#1085;&#1099;&#1077;%20(1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olot\Desktop\Excel\&#1044;&#1047;%20&#1059;&#1088;&#1086;&#1082;%2011%20&#1080;&#1089;&#1093;&#1086;&#1076;&#1085;&#1099;&#1077;%20&#1076;&#1072;&#1085;&#1085;&#1099;&#1077;%20(1)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olot\Desktop\Excel\&#1044;&#1047;%20&#1059;&#1088;&#1086;&#1082;%2011%20&#1080;&#1089;&#1093;&#1086;&#1076;&#1085;&#1099;&#1077;%20&#1076;&#1072;&#1085;&#1085;&#1099;&#1077;%20(1)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2.xml"/><Relationship Id="rId2" Type="http://schemas.microsoft.com/office/2011/relationships/chartStyle" Target="style12.xml"/><Relationship Id="rId1" Type="http://schemas.openxmlformats.org/officeDocument/2006/relationships/oleObject" Target="file:///C:\Users\Zolot\Desktop\Excel\&#1044;&#1047;%20&#1059;&#1088;&#1086;&#1082;%2011%20&#1080;&#1089;&#1093;&#1086;&#1076;&#1085;&#1099;&#1077;%20&#1076;&#1072;&#1085;&#1085;&#1099;&#1077;%20(1).xlsx" TargetMode="External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13.xml"/><Relationship Id="rId2" Type="http://schemas.microsoft.com/office/2011/relationships/chartStyle" Target="style13.xml"/><Relationship Id="rId1" Type="http://schemas.openxmlformats.org/officeDocument/2006/relationships/oleObject" Target="file:///C:\Users\Zolot\Desktop\Excel\&#1044;&#1047;%20&#1059;&#1088;&#1086;&#1082;%2011%20&#1080;&#1089;&#1093;&#1086;&#1076;&#1085;&#1099;&#1077;%20&#1076;&#1072;&#1085;&#1085;&#1099;&#1077;%20(1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[ДЗ Урок 11 исходные данные (1).xlsx]Продажи магазинов!Сводная таблица1</c:name>
    <c:fmtId val="1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2">
                    <a:lumMod val="50000"/>
                  </a:schemeClr>
                </a:solidFill>
                <a:latin typeface="Calibri"/>
                <a:ea typeface="Calibri"/>
                <a:cs typeface="Calibri"/>
              </a:defRPr>
            </a:pPr>
            <a:r>
              <a:rPr lang="ru-RU" b="1">
                <a:solidFill>
                  <a:schemeClr val="tx2">
                    <a:lumMod val="50000"/>
                  </a:schemeClr>
                </a:solidFill>
              </a:rPr>
              <a:t>Динамика продаж </a:t>
            </a:r>
          </a:p>
        </c:rich>
      </c:tx>
      <c:layout>
        <c:manualLayout>
          <c:xMode val="edge"/>
          <c:yMode val="edge"/>
          <c:x val="0.4490814378993534"/>
          <c:y val="6.31195268300230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2">
                  <a:lumMod val="50000"/>
                </a:schemeClr>
              </a:solidFill>
              <a:latin typeface="Calibri"/>
              <a:ea typeface="Calibri"/>
              <a:cs typeface="Calibri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5"/>
          </a:solidFill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/>
          </a:solidFill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/>
          </a:solidFill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5"/>
          </a:solidFill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5"/>
          </a:solidFill>
          <a:ln w="28575" cap="rnd">
            <a:solidFill>
              <a:schemeClr val="accent5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1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'Продажи магазинов'!$B$3</c:f>
              <c:strCache>
                <c:ptCount val="1"/>
                <c:pt idx="0">
                  <c:v>Итог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'Продажи магазинов'!$A$4:$A$23</c:f>
              <c:multiLvlStrCache>
                <c:ptCount val="17"/>
                <c:lvl>
                  <c:pt idx="0">
                    <c:v>янв</c:v>
                  </c:pt>
                  <c:pt idx="1">
                    <c:v>фев</c:v>
                  </c:pt>
                  <c:pt idx="2">
                    <c:v>мар</c:v>
                  </c:pt>
                  <c:pt idx="3">
                    <c:v>апр</c:v>
                  </c:pt>
                  <c:pt idx="4">
                    <c:v>май</c:v>
                  </c:pt>
                  <c:pt idx="5">
                    <c:v>июн</c:v>
                  </c:pt>
                  <c:pt idx="6">
                    <c:v>июл</c:v>
                  </c:pt>
                  <c:pt idx="7">
                    <c:v>авг</c:v>
                  </c:pt>
                  <c:pt idx="8">
                    <c:v>сен</c:v>
                  </c:pt>
                  <c:pt idx="9">
                    <c:v>окт</c:v>
                  </c:pt>
                  <c:pt idx="10">
                    <c:v>ноя</c:v>
                  </c:pt>
                  <c:pt idx="11">
                    <c:v>дек</c:v>
                  </c:pt>
                  <c:pt idx="12">
                    <c:v>янв</c:v>
                  </c:pt>
                  <c:pt idx="13">
                    <c:v>фев</c:v>
                  </c:pt>
                  <c:pt idx="14">
                    <c:v>мар</c:v>
                  </c:pt>
                  <c:pt idx="15">
                    <c:v>апр</c:v>
                  </c:pt>
                  <c:pt idx="16">
                    <c:v>май</c:v>
                  </c:pt>
                </c:lvl>
                <c:lvl>
                  <c:pt idx="0">
                    <c:v>2023</c:v>
                  </c:pt>
                  <c:pt idx="12">
                    <c:v>2024</c:v>
                  </c:pt>
                </c:lvl>
              </c:multiLvlStrCache>
            </c:multiLvlStrRef>
          </c:cat>
          <c:val>
            <c:numRef>
              <c:f>'Продажи магазинов'!$B$4:$B$23</c:f>
              <c:numCache>
                <c:formatCode>General</c:formatCode>
                <c:ptCount val="17"/>
                <c:pt idx="0">
                  <c:v>48100</c:v>
                </c:pt>
                <c:pt idx="1">
                  <c:v>42036</c:v>
                </c:pt>
                <c:pt idx="2">
                  <c:v>50348</c:v>
                </c:pt>
                <c:pt idx="3">
                  <c:v>55952</c:v>
                </c:pt>
                <c:pt idx="4">
                  <c:v>42100</c:v>
                </c:pt>
                <c:pt idx="5">
                  <c:v>52825</c:v>
                </c:pt>
                <c:pt idx="6">
                  <c:v>49171</c:v>
                </c:pt>
                <c:pt idx="7">
                  <c:v>58813</c:v>
                </c:pt>
                <c:pt idx="8">
                  <c:v>51872</c:v>
                </c:pt>
                <c:pt idx="9">
                  <c:v>37160</c:v>
                </c:pt>
                <c:pt idx="10">
                  <c:v>43185</c:v>
                </c:pt>
                <c:pt idx="11">
                  <c:v>50217</c:v>
                </c:pt>
                <c:pt idx="12">
                  <c:v>47868</c:v>
                </c:pt>
                <c:pt idx="13">
                  <c:v>39549</c:v>
                </c:pt>
                <c:pt idx="14">
                  <c:v>59975</c:v>
                </c:pt>
                <c:pt idx="15">
                  <c:v>47619</c:v>
                </c:pt>
                <c:pt idx="16">
                  <c:v>23643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46C-40E3-8CF4-C1A01EA7F97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745801048"/>
        <c:axId val="745802128"/>
      </c:lineChart>
      <c:catAx>
        <c:axId val="7458010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1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45802128"/>
        <c:crosses val="autoZero"/>
        <c:auto val="1"/>
        <c:lblAlgn val="ctr"/>
        <c:lblOffset val="100"/>
        <c:noMultiLvlLbl val="0"/>
      </c:catAx>
      <c:valAx>
        <c:axId val="7458021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1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458010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[ДЗ Урок 11 исходные данные (1).xlsx]Сумарные продажи по магазинам!Сводная таблица2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1" u="none" strike="noStrike" kern="1200" cap="all" spc="120" normalizeH="0" baseline="0">
                <a:solidFill>
                  <a:schemeClr val="tx2">
                    <a:lumMod val="50000"/>
                  </a:schemeClr>
                </a:solidFill>
                <a:latin typeface="Calibri"/>
                <a:ea typeface="Calibri"/>
                <a:cs typeface="Calibri"/>
              </a:defRPr>
            </a:pPr>
            <a:r>
              <a:rPr lang="en-US" i="1">
                <a:solidFill>
                  <a:schemeClr val="tx2">
                    <a:lumMod val="50000"/>
                  </a:schemeClr>
                </a:solidFill>
              </a:rPr>
              <a:t>GMV </a:t>
            </a:r>
            <a:r>
              <a:rPr lang="ru-RU" i="1">
                <a:solidFill>
                  <a:schemeClr val="tx2">
                    <a:lumMod val="50000"/>
                  </a:schemeClr>
                </a:solidFill>
              </a:rPr>
              <a:t>по продуктовым сетям</a:t>
            </a:r>
          </a:p>
        </c:rich>
      </c:tx>
      <c:layout>
        <c:manualLayout>
          <c:xMode val="edge"/>
          <c:yMode val="edge"/>
          <c:x val="0.34898274155209247"/>
          <c:y val="3.0290204050656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1" u="none" strike="noStrike" kern="1200" cap="all" spc="120" normalizeH="0" baseline="0">
              <a:solidFill>
                <a:schemeClr val="tx2">
                  <a:lumMod val="50000"/>
                </a:schemeClr>
              </a:solidFill>
              <a:latin typeface="Calibri"/>
              <a:ea typeface="Calibri"/>
              <a:cs typeface="Calibri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5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" h="44450" prst="angle"/>
            <a:bevelB w="82550" h="4445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" h="44450" prst="angle"/>
            <a:bevelB w="82550" h="4445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" h="44450" prst="angle"/>
            <a:bevelB w="82550" h="4445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" h="44450" prst="angle"/>
            <a:bevelB w="82550" h="4445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" h="44450" prst="angle"/>
            <a:bevelB w="82550" h="4445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5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" h="44450" prst="angle"/>
            <a:bevelB w="82550" h="4445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5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82550" h="44450" prst="angle"/>
            <a:bevelB w="82550" h="44450" prst="angle"/>
            <a:contourClr>
              <a:srgbClr val="000000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'Сумарные продажи по магазинам'!$B$3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82550" h="44450" prst="angle"/>
              <a:bevelB w="82550" h="44450" prst="angle"/>
              <a:contourClr>
                <a:srgbClr val="000000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'Сумарные продажи по магазинам'!$A$4:$A$24</c:f>
              <c:strCache>
                <c:ptCount val="20"/>
                <c:pt idx="0">
                  <c:v>О'кей</c:v>
                </c:pt>
                <c:pt idx="1">
                  <c:v>Гиперглобус</c:v>
                </c:pt>
                <c:pt idx="2">
                  <c:v>Мосмарт</c:v>
                </c:pt>
                <c:pt idx="3">
                  <c:v>Спар</c:v>
                </c:pt>
                <c:pt idx="4">
                  <c:v>Верный</c:v>
                </c:pt>
                <c:pt idx="5">
                  <c:v>Городской Супермаркет</c:v>
                </c:pt>
                <c:pt idx="6">
                  <c:v>Ароматный Мир</c:v>
                </c:pt>
                <c:pt idx="7">
                  <c:v>Седьмой Континент</c:v>
                </c:pt>
                <c:pt idx="8">
                  <c:v>Бристоль</c:v>
                </c:pt>
                <c:pt idx="9">
                  <c:v>Мираторг</c:v>
                </c:pt>
                <c:pt idx="10">
                  <c:v>Метро</c:v>
                </c:pt>
                <c:pt idx="11">
                  <c:v>Лента</c:v>
                </c:pt>
                <c:pt idx="12">
                  <c:v>Магнит</c:v>
                </c:pt>
                <c:pt idx="13">
                  <c:v>Азбука Вкуса</c:v>
                </c:pt>
                <c:pt idx="14">
                  <c:v>Перекресток</c:v>
                </c:pt>
                <c:pt idx="15">
                  <c:v>Карусель</c:v>
                </c:pt>
                <c:pt idx="16">
                  <c:v>Дикси</c:v>
                </c:pt>
                <c:pt idx="17">
                  <c:v>Ашан</c:v>
                </c:pt>
                <c:pt idx="18">
                  <c:v>Пятерочка</c:v>
                </c:pt>
                <c:pt idx="19">
                  <c:v>Билла</c:v>
                </c:pt>
              </c:strCache>
            </c:strRef>
          </c:cat>
          <c:val>
            <c:numRef>
              <c:f>'Сумарные продажи по магазинам'!$B$4:$B$24</c:f>
              <c:numCache>
                <c:formatCode>#\ ##0\ "₽"</c:formatCode>
                <c:ptCount val="20"/>
                <c:pt idx="0">
                  <c:v>52844</c:v>
                </c:pt>
                <c:pt idx="1">
                  <c:v>51789</c:v>
                </c:pt>
                <c:pt idx="2">
                  <c:v>49580</c:v>
                </c:pt>
                <c:pt idx="3">
                  <c:v>48746</c:v>
                </c:pt>
                <c:pt idx="4">
                  <c:v>47028</c:v>
                </c:pt>
                <c:pt idx="5">
                  <c:v>43098</c:v>
                </c:pt>
                <c:pt idx="6">
                  <c:v>42837</c:v>
                </c:pt>
                <c:pt idx="7">
                  <c:v>41106</c:v>
                </c:pt>
                <c:pt idx="8">
                  <c:v>41010</c:v>
                </c:pt>
                <c:pt idx="9">
                  <c:v>40029</c:v>
                </c:pt>
                <c:pt idx="10">
                  <c:v>39168</c:v>
                </c:pt>
                <c:pt idx="11">
                  <c:v>38312</c:v>
                </c:pt>
                <c:pt idx="12">
                  <c:v>37636</c:v>
                </c:pt>
                <c:pt idx="13">
                  <c:v>36448</c:v>
                </c:pt>
                <c:pt idx="14">
                  <c:v>36436</c:v>
                </c:pt>
                <c:pt idx="15">
                  <c:v>35012</c:v>
                </c:pt>
                <c:pt idx="16">
                  <c:v>32463</c:v>
                </c:pt>
                <c:pt idx="17">
                  <c:v>31954</c:v>
                </c:pt>
                <c:pt idx="18">
                  <c:v>27662</c:v>
                </c:pt>
                <c:pt idx="19">
                  <c:v>27275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EA-4F29-90E3-D83B54107EF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05469096"/>
        <c:axId val="688340312"/>
      </c:barChart>
      <c:catAx>
        <c:axId val="1054690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0"/>
          <a:lstStyle/>
          <a:p>
            <a:pPr>
              <a:defRPr sz="900" b="1" i="1" u="none" strike="noStrike" kern="1200" cap="all" spc="120" normalizeH="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88340312"/>
        <c:crosses val="autoZero"/>
        <c:auto val="1"/>
        <c:lblAlgn val="ctr"/>
        <c:lblOffset val="100"/>
        <c:noMultiLvlLbl val="0"/>
      </c:catAx>
      <c:valAx>
        <c:axId val="688340312"/>
        <c:scaling>
          <c:orientation val="minMax"/>
        </c:scaling>
        <c:delete val="1"/>
        <c:axPos val="l"/>
        <c:numFmt formatCode="#\ ##0\ &quot;₽&quot;" sourceLinked="1"/>
        <c:majorTickMark val="none"/>
        <c:minorTickMark val="none"/>
        <c:tickLblPos val="nextTo"/>
        <c:crossAx val="1054690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[ДЗ Урок 11 исходные данные (1).xlsx]Выгода клиентам!Сводная таблица1</c:name>
    <c:fmtId val="7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0" u="none" strike="noStrike" kern="1200" spc="0" baseline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defRPr>
            </a:pPr>
            <a:r>
              <a:rPr lang="ru-RU" sz="2400" b="1" i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Средний дисконт по магазинам</a:t>
            </a:r>
          </a:p>
        </c:rich>
      </c:tx>
      <c:layout>
        <c:manualLayout>
          <c:xMode val="edge"/>
          <c:yMode val="edge"/>
          <c:x val="0.2263995322601474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0" u="none" strike="noStrike" kern="1200" spc="0" baseline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/>
        </c:spPr>
      </c:pivotFmt>
      <c:pivotFmt>
        <c:idx val="2"/>
        <c:spPr>
          <a:solidFill>
            <a:schemeClr val="accent5"/>
          </a:solidFill>
          <a:ln>
            <a:noFill/>
          </a:ln>
          <a:effectLst/>
        </c:spPr>
      </c:pivotFmt>
      <c:pivotFmt>
        <c:idx val="3"/>
        <c:spPr>
          <a:solidFill>
            <a:schemeClr val="accent5"/>
          </a:solidFill>
          <a:ln>
            <a:noFill/>
          </a:ln>
          <a:effectLst/>
        </c:spPr>
      </c:pivotFmt>
      <c:pivotFmt>
        <c:idx val="4"/>
        <c:spPr>
          <a:solidFill>
            <a:schemeClr val="accent5"/>
          </a:solidFill>
          <a:ln>
            <a:noFill/>
          </a:ln>
          <a:effectLst/>
        </c:spPr>
      </c:pivotFmt>
      <c:pivotFmt>
        <c:idx val="5"/>
        <c:spPr>
          <a:solidFill>
            <a:schemeClr val="accent5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6"/>
        <c:spPr>
          <a:solidFill>
            <a:schemeClr val="accent5"/>
          </a:solidFill>
          <a:ln>
            <a:noFill/>
          </a:ln>
          <a:effectLst/>
        </c:spPr>
      </c:pivotFmt>
      <c:pivotFmt>
        <c:idx val="7"/>
        <c:spPr>
          <a:solidFill>
            <a:schemeClr val="accent5"/>
          </a:solidFill>
          <a:ln>
            <a:noFill/>
          </a:ln>
          <a:effectLst/>
        </c:spPr>
      </c:pivotFmt>
      <c:pivotFmt>
        <c:idx val="8"/>
        <c:spPr>
          <a:solidFill>
            <a:schemeClr val="accent5"/>
          </a:solidFill>
          <a:ln>
            <a:noFill/>
          </a:ln>
          <a:effectLst/>
        </c:spPr>
      </c:pivotFmt>
      <c:pivotFmt>
        <c:idx val="9"/>
        <c:spPr>
          <a:solidFill>
            <a:schemeClr val="accent5"/>
          </a:solidFill>
          <a:ln>
            <a:noFill/>
          </a:ln>
          <a:effectLst/>
        </c:spPr>
      </c:pivotFmt>
      <c:pivotFmt>
        <c:idx val="10"/>
        <c:spPr>
          <a:solidFill>
            <a:schemeClr val="accent5"/>
          </a:solidFill>
          <a:ln>
            <a:noFill/>
          </a:ln>
          <a:effectLst/>
        </c:spPr>
      </c:pivotFmt>
      <c:pivotFmt>
        <c:idx val="11"/>
        <c:spPr>
          <a:solidFill>
            <a:schemeClr val="accent5"/>
          </a:solidFill>
          <a:ln>
            <a:noFill/>
          </a:ln>
          <a:effectLst/>
        </c:spPr>
      </c:pivotFmt>
      <c:pivotFmt>
        <c:idx val="12"/>
        <c:spPr>
          <a:solidFill>
            <a:schemeClr val="accent5"/>
          </a:solidFill>
          <a:ln>
            <a:noFill/>
          </a:ln>
          <a:effectLst/>
        </c:spPr>
      </c:pivotFmt>
      <c:pivotFmt>
        <c:idx val="13"/>
        <c:spPr>
          <a:solidFill>
            <a:schemeClr val="accent5"/>
          </a:solidFill>
          <a:ln>
            <a:noFill/>
          </a:ln>
          <a:effectLst/>
        </c:spPr>
      </c:pivotFmt>
      <c:pivotFmt>
        <c:idx val="14"/>
        <c:spPr>
          <a:solidFill>
            <a:schemeClr val="accent5"/>
          </a:solidFill>
          <a:ln>
            <a:noFill/>
          </a:ln>
          <a:effectLst/>
        </c:spPr>
      </c:pivotFmt>
      <c:pivotFmt>
        <c:idx val="15"/>
        <c:spPr>
          <a:solidFill>
            <a:schemeClr val="accent5"/>
          </a:solidFill>
          <a:ln>
            <a:noFill/>
          </a:ln>
          <a:effectLst/>
        </c:spPr>
      </c:pivotFmt>
      <c:pivotFmt>
        <c:idx val="16"/>
        <c:spPr>
          <a:solidFill>
            <a:schemeClr val="accent5"/>
          </a:solidFill>
          <a:ln>
            <a:noFill/>
          </a:ln>
          <a:effectLst/>
        </c:spPr>
      </c:pivotFmt>
      <c:pivotFmt>
        <c:idx val="17"/>
        <c:spPr>
          <a:solidFill>
            <a:schemeClr val="accent5"/>
          </a:solidFill>
          <a:ln>
            <a:noFill/>
          </a:ln>
          <a:effectLst/>
        </c:spPr>
      </c:pivotFmt>
      <c:pivotFmt>
        <c:idx val="18"/>
        <c:spPr>
          <a:solidFill>
            <a:schemeClr val="accent5"/>
          </a:solidFill>
          <a:ln>
            <a:noFill/>
          </a:ln>
          <a:effectLst/>
        </c:spPr>
      </c:pivotFmt>
      <c:pivotFmt>
        <c:idx val="19"/>
        <c:spPr>
          <a:solidFill>
            <a:schemeClr val="accent5"/>
          </a:solidFill>
          <a:ln>
            <a:noFill/>
          </a:ln>
          <a:effectLst/>
        </c:spPr>
      </c:pivotFmt>
      <c:pivotFmt>
        <c:idx val="20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5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2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5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4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5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6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5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28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5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30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5"/>
          </a:solidFill>
          <a:ln>
            <a:noFill/>
          </a:ln>
          <a:effectLst/>
        </c:spP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rect">
                  <a:avLst/>
                </a:prstGeom>
                <a:noFill/>
                <a:ln>
                  <a:noFill/>
                </a:ln>
              </c15:spPr>
            </c:ext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'Выгода клиентам'!$B$3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191-468F-957F-87592887B598}"/>
              </c:ext>
            </c:extLst>
          </c:dPt>
          <c:dLbls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2">
                          <a:lumMod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7191-468F-957F-87592887B59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'Выгода клиентам'!$A$4:$A$23</c:f>
              <c:strCache>
                <c:ptCount val="20"/>
                <c:pt idx="0">
                  <c:v>Лента</c:v>
                </c:pt>
                <c:pt idx="1">
                  <c:v>Седьмой Континент</c:v>
                </c:pt>
                <c:pt idx="2">
                  <c:v>Городской Супермаркет</c:v>
                </c:pt>
                <c:pt idx="3">
                  <c:v>Билла</c:v>
                </c:pt>
                <c:pt idx="4">
                  <c:v>Метро</c:v>
                </c:pt>
                <c:pt idx="5">
                  <c:v>Азбука Вкуса</c:v>
                </c:pt>
                <c:pt idx="6">
                  <c:v>Мосмарт</c:v>
                </c:pt>
                <c:pt idx="7">
                  <c:v>Мираторг</c:v>
                </c:pt>
                <c:pt idx="8">
                  <c:v>Карусель</c:v>
                </c:pt>
                <c:pt idx="9">
                  <c:v>Ароматный Мир</c:v>
                </c:pt>
                <c:pt idx="10">
                  <c:v>Бристоль</c:v>
                </c:pt>
                <c:pt idx="11">
                  <c:v>Дикси</c:v>
                </c:pt>
                <c:pt idx="12">
                  <c:v>Ашан</c:v>
                </c:pt>
                <c:pt idx="13">
                  <c:v>Гиперглобус</c:v>
                </c:pt>
                <c:pt idx="14">
                  <c:v>Магнит</c:v>
                </c:pt>
                <c:pt idx="15">
                  <c:v>О'кей</c:v>
                </c:pt>
                <c:pt idx="16">
                  <c:v>Перекресток</c:v>
                </c:pt>
                <c:pt idx="17">
                  <c:v>Верный</c:v>
                </c:pt>
                <c:pt idx="18">
                  <c:v>Спар</c:v>
                </c:pt>
                <c:pt idx="19">
                  <c:v>Пятерочка</c:v>
                </c:pt>
              </c:strCache>
            </c:strRef>
          </c:cat>
          <c:val>
            <c:numRef>
              <c:f>'Выгода клиентам'!$B$4:$B$23</c:f>
              <c:numCache>
                <c:formatCode>0%</c:formatCode>
                <c:ptCount val="20"/>
                <c:pt idx="0">
                  <c:v>0.10062698971238108</c:v>
                </c:pt>
                <c:pt idx="1">
                  <c:v>8.1840255375316515E-2</c:v>
                </c:pt>
                <c:pt idx="2">
                  <c:v>5.8968409942088303E-2</c:v>
                </c:pt>
                <c:pt idx="3">
                  <c:v>5.6287665956558271E-2</c:v>
                </c:pt>
                <c:pt idx="4">
                  <c:v>4.7135772995875888E-2</c:v>
                </c:pt>
                <c:pt idx="5">
                  <c:v>3.613108366981542E-2</c:v>
                </c:pt>
                <c:pt idx="6">
                  <c:v>2.3330793858908173E-2</c:v>
                </c:pt>
                <c:pt idx="7">
                  <c:v>1.0296276612656797E-2</c:v>
                </c:pt>
                <c:pt idx="8">
                  <c:v>7.0069984701864327E-3</c:v>
                </c:pt>
                <c:pt idx="9">
                  <c:v>5.2821684960563031E-3</c:v>
                </c:pt>
                <c:pt idx="10">
                  <c:v>-8.094054282908528E-3</c:v>
                </c:pt>
                <c:pt idx="11">
                  <c:v>-9.4885770216267366E-3</c:v>
                </c:pt>
                <c:pt idx="12">
                  <c:v>-1.1341839275218986E-2</c:v>
                </c:pt>
                <c:pt idx="13">
                  <c:v>-2.959425010257517E-2</c:v>
                </c:pt>
                <c:pt idx="14">
                  <c:v>-3.2883513853600721E-2</c:v>
                </c:pt>
                <c:pt idx="15">
                  <c:v>-3.9462244779638118E-2</c:v>
                </c:pt>
                <c:pt idx="16">
                  <c:v>-4.2441773613568989E-2</c:v>
                </c:pt>
                <c:pt idx="17">
                  <c:v>-5.0380082409471671E-2</c:v>
                </c:pt>
                <c:pt idx="18">
                  <c:v>-6.3289069364215592E-2</c:v>
                </c:pt>
                <c:pt idx="19">
                  <c:v>-0.10170732495505042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191-468F-957F-87592887B5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635865864"/>
        <c:axId val="635866224"/>
      </c:barChart>
      <c:catAx>
        <c:axId val="6358658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b" anchorCtr="0"/>
          <a:lstStyle/>
          <a:p>
            <a:pPr>
              <a:defRPr sz="1000" b="1" i="1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35866224"/>
        <c:crosses val="autoZero"/>
        <c:auto val="1"/>
        <c:lblAlgn val="ctr"/>
        <c:lblOffset val="100"/>
        <c:noMultiLvlLbl val="0"/>
      </c:catAx>
      <c:valAx>
        <c:axId val="635866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i="1">
                    <a:solidFill>
                      <a:schemeClr val="tx2">
                        <a:lumMod val="50000"/>
                      </a:schemeClr>
                    </a:solidFill>
                  </a:rPr>
                  <a:t>Дисконт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1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358658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[ДЗ Урок 11 исходные данные (1).xlsx]Анализ цен по поставщикам!Сводная таблица2</c:name>
    <c:fmtId val="3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1" u="none" strike="noStrike" kern="1200" spc="0" baseline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2400" b="1" i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цен внутри категории по поставщикам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1" u="none" strike="noStrike" kern="1200" spc="0" baseline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5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5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5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'Анализ цен по поставщикам'!$B$3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c:spPr>
          <c:invertIfNegative val="0"/>
          <c:cat>
            <c:multiLvlStrRef>
              <c:f>'Анализ цен по поставщикам'!$A$4:$A$103</c:f>
              <c:multiLvlStrCache>
                <c:ptCount val="80"/>
                <c:lvl>
                  <c:pt idx="0">
                    <c:v>Активиа</c:v>
                  </c:pt>
                  <c:pt idx="1">
                    <c:v>Ростагроэкспорт</c:v>
                  </c:pt>
                  <c:pt idx="2">
                    <c:v>Чудо</c:v>
                  </c:pt>
                  <c:pt idx="3">
                    <c:v>Эрманн</c:v>
                  </c:pt>
                  <c:pt idx="4">
                    <c:v>Дымов</c:v>
                  </c:pt>
                  <c:pt idx="5">
                    <c:v>Микоян</c:v>
                  </c:pt>
                  <c:pt idx="6">
                    <c:v>Окраина</c:v>
                  </c:pt>
                  <c:pt idx="7">
                    <c:v>Черкизово</c:v>
                  </c:pt>
                  <c:pt idx="8">
                    <c:v>Бабаевский</c:v>
                  </c:pt>
                  <c:pt idx="9">
                    <c:v>Красный Октябрь</c:v>
                  </c:pt>
                  <c:pt idx="10">
                    <c:v>Рот Фронт</c:v>
                  </c:pt>
                  <c:pt idx="11">
                    <c:v>Славянка</c:v>
                  </c:pt>
                  <c:pt idx="12">
                    <c:v>Jacobs</c:v>
                  </c:pt>
                  <c:pt idx="13">
                    <c:v>Nescafe</c:v>
                  </c:pt>
                  <c:pt idx="14">
                    <c:v>Tchibo</c:v>
                  </c:pt>
                  <c:pt idx="15">
                    <c:v>Черная Карта</c:v>
                  </c:pt>
                  <c:pt idx="16">
                    <c:v>Мистраль</c:v>
                  </c:pt>
                  <c:pt idx="17">
                    <c:v>Националь</c:v>
                  </c:pt>
                  <c:pt idx="18">
                    <c:v>Увелка</c:v>
                  </c:pt>
                  <c:pt idx="19">
                    <c:v>Ярмарка</c:v>
                  </c:pt>
                  <c:pt idx="20">
                    <c:v>Борилла</c:v>
                  </c:pt>
                  <c:pt idx="21">
                    <c:v>Макфа</c:v>
                  </c:pt>
                  <c:pt idx="22">
                    <c:v>Паста Зара</c:v>
                  </c:pt>
                  <c:pt idx="23">
                    <c:v>Роллтон</c:v>
                  </c:pt>
                  <c:pt idx="24">
                    <c:v>Беллакт</c:v>
                  </c:pt>
                  <c:pt idx="25">
                    <c:v>Вимм-Билль-Данн</c:v>
                  </c:pt>
                  <c:pt idx="26">
                    <c:v>Домик в деревне</c:v>
                  </c:pt>
                  <c:pt idx="27">
                    <c:v>Простоквашино</c:v>
                  </c:pt>
                  <c:pt idx="28">
                    <c:v>Агрокомплекс</c:v>
                  </c:pt>
                  <c:pt idx="29">
                    <c:v>Мираторг</c:v>
                  </c:pt>
                  <c:pt idx="30">
                    <c:v>Сава</c:v>
                  </c:pt>
                  <c:pt idx="31">
                    <c:v>Снежана</c:v>
                  </c:pt>
                  <c:pt idx="32">
                    <c:v>Гавриш</c:v>
                  </c:pt>
                  <c:pt idx="33">
                    <c:v>Зеленая грядка</c:v>
                  </c:pt>
                  <c:pt idx="34">
                    <c:v>Овощной ряд</c:v>
                  </c:pt>
                  <c:pt idx="35">
                    <c:v>Семко</c:v>
                  </c:pt>
                  <c:pt idx="36">
                    <c:v>Белогорье</c:v>
                  </c:pt>
                  <c:pt idx="37">
                    <c:v>КДВ</c:v>
                  </c:pt>
                  <c:pt idx="38">
                    <c:v>Посиделкино</c:v>
                  </c:pt>
                  <c:pt idx="39">
                    <c:v>Юбилейное</c:v>
                  </c:pt>
                  <c:pt idx="40">
                    <c:v>Агро-Альянс</c:v>
                  </c:pt>
                  <c:pt idx="41">
                    <c:v>Белый Злат</c:v>
                  </c:pt>
                  <c:pt idx="42">
                    <c:v>Мистраль</c:v>
                  </c:pt>
                  <c:pt idx="43">
                    <c:v>Националь</c:v>
                  </c:pt>
                  <c:pt idx="44">
                    <c:v>Балтийский берег</c:v>
                  </c:pt>
                  <c:pt idx="45">
                    <c:v>Меридиан</c:v>
                  </c:pt>
                  <c:pt idx="46">
                    <c:v>Русское море</c:v>
                  </c:pt>
                  <c:pt idx="47">
                    <c:v>Санта Бремор</c:v>
                  </c:pt>
                  <c:pt idx="48">
                    <c:v>Агросахар</c:v>
                  </c:pt>
                  <c:pt idx="49">
                    <c:v>Продимекс</c:v>
                  </c:pt>
                  <c:pt idx="50">
                    <c:v>Русский сахар</c:v>
                  </c:pt>
                  <c:pt idx="51">
                    <c:v>Сладов</c:v>
                  </c:pt>
                  <c:pt idx="52">
                    <c:v>Rich</c:v>
                  </c:pt>
                  <c:pt idx="53">
                    <c:v>Добрый</c:v>
                  </c:pt>
                  <c:pt idx="54">
                    <c:v>Сады Придонья</c:v>
                  </c:pt>
                  <c:pt idx="55">
                    <c:v>Фруктовый сад</c:v>
                  </c:pt>
                  <c:pt idx="56">
                    <c:v>Илецкая</c:v>
                  </c:pt>
                  <c:pt idx="57">
                    <c:v>Салта</c:v>
                  </c:pt>
                  <c:pt idx="58">
                    <c:v>Славянская</c:v>
                  </c:pt>
                  <c:pt idx="59">
                    <c:v>Экстра</c:v>
                  </c:pt>
                  <c:pt idx="60">
                    <c:v>Hochland</c:v>
                  </c:pt>
                  <c:pt idx="61">
                    <c:v>President</c:v>
                  </c:pt>
                  <c:pt idx="62">
                    <c:v>Карат</c:v>
                  </c:pt>
                  <c:pt idx="63">
                    <c:v>Сырная долина</c:v>
                  </c:pt>
                  <c:pt idx="64">
                    <c:v>Green Garden</c:v>
                  </c:pt>
                  <c:pt idx="65">
                    <c:v>Фруктовый Рай</c:v>
                  </c:pt>
                  <c:pt idx="66">
                    <c:v>Фрукты-Ягоды</c:v>
                  </c:pt>
                  <c:pt idx="67">
                    <c:v>Экзотик</c:v>
                  </c:pt>
                  <c:pt idx="68">
                    <c:v>Дарница</c:v>
                  </c:pt>
                  <c:pt idx="69">
                    <c:v>Каравай</c:v>
                  </c:pt>
                  <c:pt idx="70">
                    <c:v>Русский Хлеб</c:v>
                  </c:pt>
                  <c:pt idx="71">
                    <c:v>Хлебный Дом</c:v>
                  </c:pt>
                  <c:pt idx="72">
                    <c:v>Greenfield</c:v>
                  </c:pt>
                  <c:pt idx="73">
                    <c:v>Lipton</c:v>
                  </c:pt>
                  <c:pt idx="74">
                    <c:v>Ахмад</c:v>
                  </c:pt>
                  <c:pt idx="75">
                    <c:v>Тесс</c:v>
                  </c:pt>
                  <c:pt idx="76">
                    <c:v>Estrella</c:v>
                  </c:pt>
                  <c:pt idx="77">
                    <c:v>Lay's</c:v>
                  </c:pt>
                  <c:pt idx="78">
                    <c:v>Pringles</c:v>
                  </c:pt>
                  <c:pt idx="79">
                    <c:v>Русская картошка</c:v>
                  </c:pt>
                </c:lvl>
                <c:lvl>
                  <c:pt idx="0">
                    <c:v>Йогурт</c:v>
                  </c:pt>
                  <c:pt idx="4">
                    <c:v>Колбаса</c:v>
                  </c:pt>
                  <c:pt idx="8">
                    <c:v>Конфеты</c:v>
                  </c:pt>
                  <c:pt idx="12">
                    <c:v>Кофе</c:v>
                  </c:pt>
                  <c:pt idx="16">
                    <c:v>Крупа</c:v>
                  </c:pt>
                  <c:pt idx="20">
                    <c:v>Макароны</c:v>
                  </c:pt>
                  <c:pt idx="24">
                    <c:v>Молоко</c:v>
                  </c:pt>
                  <c:pt idx="28">
                    <c:v>Мясо</c:v>
                  </c:pt>
                  <c:pt idx="32">
                    <c:v>Овощи</c:v>
                  </c:pt>
                  <c:pt idx="36">
                    <c:v>Печенье</c:v>
                  </c:pt>
                  <c:pt idx="40">
                    <c:v>Рис</c:v>
                  </c:pt>
                  <c:pt idx="44">
                    <c:v>Рыба</c:v>
                  </c:pt>
                  <c:pt idx="48">
                    <c:v>Сахар</c:v>
                  </c:pt>
                  <c:pt idx="52">
                    <c:v>Сок</c:v>
                  </c:pt>
                  <c:pt idx="56">
                    <c:v>Соль</c:v>
                  </c:pt>
                  <c:pt idx="60">
                    <c:v>Сыр</c:v>
                  </c:pt>
                  <c:pt idx="64">
                    <c:v>Фрукты</c:v>
                  </c:pt>
                  <c:pt idx="68">
                    <c:v>Хлеб</c:v>
                  </c:pt>
                  <c:pt idx="72">
                    <c:v>Чай</c:v>
                  </c:pt>
                  <c:pt idx="76">
                    <c:v>Чипсы</c:v>
                  </c:pt>
                </c:lvl>
              </c:multiLvlStrCache>
            </c:multiLvlStrRef>
          </c:cat>
          <c:val>
            <c:numRef>
              <c:f>'Анализ цен по поставщикам'!$B$4:$B$103</c:f>
              <c:numCache>
                <c:formatCode>0.0</c:formatCode>
                <c:ptCount val="80"/>
                <c:pt idx="0">
                  <c:v>293.66666666666669</c:v>
                </c:pt>
                <c:pt idx="1">
                  <c:v>257.78260869565207</c:v>
                </c:pt>
                <c:pt idx="2">
                  <c:v>287.09999999999997</c:v>
                </c:pt>
                <c:pt idx="3">
                  <c:v>248.5</c:v>
                </c:pt>
                <c:pt idx="4">
                  <c:v>312.66666666666669</c:v>
                </c:pt>
                <c:pt idx="5">
                  <c:v>82</c:v>
                </c:pt>
                <c:pt idx="6">
                  <c:v>273.58333333333337</c:v>
                </c:pt>
                <c:pt idx="7">
                  <c:v>320.25</c:v>
                </c:pt>
                <c:pt idx="8">
                  <c:v>250.25925925925918</c:v>
                </c:pt>
                <c:pt idx="9">
                  <c:v>273.625</c:v>
                </c:pt>
                <c:pt idx="10">
                  <c:v>288.2380952380953</c:v>
                </c:pt>
                <c:pt idx="11">
                  <c:v>268</c:v>
                </c:pt>
                <c:pt idx="12">
                  <c:v>276.21052631578948</c:v>
                </c:pt>
                <c:pt idx="13">
                  <c:v>256.90000000000003</c:v>
                </c:pt>
                <c:pt idx="14">
                  <c:v>140</c:v>
                </c:pt>
                <c:pt idx="15">
                  <c:v>222.2</c:v>
                </c:pt>
                <c:pt idx="16">
                  <c:v>250.30769230769235</c:v>
                </c:pt>
                <c:pt idx="17">
                  <c:v>274.28571428571428</c:v>
                </c:pt>
                <c:pt idx="18">
                  <c:v>251.91666666666663</c:v>
                </c:pt>
                <c:pt idx="19">
                  <c:v>252.09090909090904</c:v>
                </c:pt>
                <c:pt idx="20">
                  <c:v>236.27586206896555</c:v>
                </c:pt>
                <c:pt idx="21">
                  <c:v>329.2727272727272</c:v>
                </c:pt>
                <c:pt idx="22">
                  <c:v>276.67567567567562</c:v>
                </c:pt>
                <c:pt idx="23">
                  <c:v>235.5555555555556</c:v>
                </c:pt>
                <c:pt idx="24">
                  <c:v>322.54545454545456</c:v>
                </c:pt>
                <c:pt idx="25">
                  <c:v>193.5</c:v>
                </c:pt>
                <c:pt idx="26">
                  <c:v>274.77777777777771</c:v>
                </c:pt>
                <c:pt idx="27">
                  <c:v>318.81818181818187</c:v>
                </c:pt>
                <c:pt idx="28">
                  <c:v>311.19999999999993</c:v>
                </c:pt>
                <c:pt idx="29">
                  <c:v>316.58333333333337</c:v>
                </c:pt>
                <c:pt idx="30">
                  <c:v>212.8125</c:v>
                </c:pt>
                <c:pt idx="31">
                  <c:v>272.35294117647067</c:v>
                </c:pt>
                <c:pt idx="32">
                  <c:v>247.66666666666666</c:v>
                </c:pt>
                <c:pt idx="33">
                  <c:v>159.19999999999999</c:v>
                </c:pt>
                <c:pt idx="34">
                  <c:v>303.82352941176475</c:v>
                </c:pt>
                <c:pt idx="35">
                  <c:v>208</c:v>
                </c:pt>
                <c:pt idx="36">
                  <c:v>249.5</c:v>
                </c:pt>
                <c:pt idx="37">
                  <c:v>323.07692307692298</c:v>
                </c:pt>
                <c:pt idx="38">
                  <c:v>321.63636363636357</c:v>
                </c:pt>
                <c:pt idx="39">
                  <c:v>232.4444444444444</c:v>
                </c:pt>
                <c:pt idx="40">
                  <c:v>317.85714285714283</c:v>
                </c:pt>
                <c:pt idx="41">
                  <c:v>269.7058823529411</c:v>
                </c:pt>
                <c:pt idx="42">
                  <c:v>181.57142857142861</c:v>
                </c:pt>
                <c:pt idx="43">
                  <c:v>187</c:v>
                </c:pt>
                <c:pt idx="44">
                  <c:v>289.88888888888891</c:v>
                </c:pt>
                <c:pt idx="45">
                  <c:v>260.64705882352933</c:v>
                </c:pt>
                <c:pt idx="46">
                  <c:v>292.66666666666669</c:v>
                </c:pt>
                <c:pt idx="47">
                  <c:v>216.40000000000003</c:v>
                </c:pt>
                <c:pt idx="48">
                  <c:v>215.85714285714286</c:v>
                </c:pt>
                <c:pt idx="49">
                  <c:v>240.5</c:v>
                </c:pt>
                <c:pt idx="50">
                  <c:v>293.41176470588232</c:v>
                </c:pt>
                <c:pt idx="51">
                  <c:v>240.26666666666677</c:v>
                </c:pt>
                <c:pt idx="52">
                  <c:v>272.25</c:v>
                </c:pt>
                <c:pt idx="53">
                  <c:v>242.81818181818181</c:v>
                </c:pt>
                <c:pt idx="54">
                  <c:v>254.18181818181819</c:v>
                </c:pt>
                <c:pt idx="55">
                  <c:v>281.96875</c:v>
                </c:pt>
                <c:pt idx="56">
                  <c:v>238.16666666666663</c:v>
                </c:pt>
                <c:pt idx="57">
                  <c:v>273.69999999999993</c:v>
                </c:pt>
                <c:pt idx="58">
                  <c:v>236.91666666666663</c:v>
                </c:pt>
                <c:pt idx="59">
                  <c:v>320.84615384615387</c:v>
                </c:pt>
                <c:pt idx="60">
                  <c:v>168</c:v>
                </c:pt>
                <c:pt idx="61">
                  <c:v>238.72222222222223</c:v>
                </c:pt>
                <c:pt idx="62">
                  <c:v>311.33333333333331</c:v>
                </c:pt>
                <c:pt idx="63">
                  <c:v>271</c:v>
                </c:pt>
                <c:pt idx="64">
                  <c:v>369.2</c:v>
                </c:pt>
                <c:pt idx="65">
                  <c:v>258.30769230769232</c:v>
                </c:pt>
                <c:pt idx="66">
                  <c:v>280.66666666666669</c:v>
                </c:pt>
                <c:pt idx="67">
                  <c:v>253.6875</c:v>
                </c:pt>
                <c:pt idx="68">
                  <c:v>264</c:v>
                </c:pt>
                <c:pt idx="69">
                  <c:v>331.16666666666663</c:v>
                </c:pt>
                <c:pt idx="70">
                  <c:v>316.59999999999997</c:v>
                </c:pt>
                <c:pt idx="71">
                  <c:v>281.73333333333346</c:v>
                </c:pt>
                <c:pt idx="72">
                  <c:v>291.45454545454533</c:v>
                </c:pt>
                <c:pt idx="73">
                  <c:v>260.15789473684202</c:v>
                </c:pt>
                <c:pt idx="74">
                  <c:v>243.3</c:v>
                </c:pt>
                <c:pt idx="75">
                  <c:v>281.75</c:v>
                </c:pt>
                <c:pt idx="76">
                  <c:v>266.2727272727272</c:v>
                </c:pt>
                <c:pt idx="77">
                  <c:v>320.5714285714285</c:v>
                </c:pt>
                <c:pt idx="78">
                  <c:v>280.2380952380953</c:v>
                </c:pt>
                <c:pt idx="79">
                  <c:v>241.83333333333337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AF-41CA-BC3F-C00C306A54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2521808"/>
        <c:axId val="592518208"/>
      </c:barChart>
      <c:catAx>
        <c:axId val="592521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92518208"/>
        <c:crosses val="autoZero"/>
        <c:auto val="1"/>
        <c:lblAlgn val="ctr"/>
        <c:lblOffset val="100"/>
        <c:noMultiLvlLbl val="0"/>
      </c:catAx>
      <c:valAx>
        <c:axId val="5925182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92521808"/>
        <c:crosses val="autoZero"/>
        <c:crossBetween val="between"/>
      </c:valAx>
      <c:spPr>
        <a:noFill/>
        <a:ln>
          <a:noFill/>
        </a:ln>
        <a:effectLst>
          <a:glow rad="139700">
            <a:schemeClr val="accent5">
              <a:satMod val="175000"/>
              <a:alpha val="40000"/>
            </a:schemeClr>
          </a:glow>
          <a:softEdge rad="63500"/>
        </a:effec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[ДЗ Урок 11 исходные данные (1).xlsx]Суммарные прод по поставщикам!Сводная таблица3</c:name>
    <c:fmtId val="2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800" b="1" i="1" u="none" strike="noStrike" kern="1200" spc="0" baseline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2800" b="1" i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Суммарные продажи по поставщикам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1" i="1" u="none" strike="noStrike" kern="1200" spc="0" baseline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'Суммарные прод по поставщикам'!$B$4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p3d/>
          </c:spPr>
          <c:invertIfNegative val="0"/>
          <c:cat>
            <c:strRef>
              <c:f>'Суммарные прод по поставщикам'!$A$5:$A$82</c:f>
              <c:strCache>
                <c:ptCount val="78"/>
                <c:pt idx="0">
                  <c:v>Паста Зара</c:v>
                </c:pt>
                <c:pt idx="1">
                  <c:v>Фруктовый сад</c:v>
                </c:pt>
                <c:pt idx="2">
                  <c:v>Сырная долина</c:v>
                </c:pt>
                <c:pt idx="3">
                  <c:v>Greenfield</c:v>
                </c:pt>
                <c:pt idx="4">
                  <c:v>Бабаевский</c:v>
                </c:pt>
                <c:pt idx="5">
                  <c:v>Борилла</c:v>
                </c:pt>
                <c:pt idx="6">
                  <c:v>Домик в деревне</c:v>
                </c:pt>
                <c:pt idx="7">
                  <c:v>Pringles</c:v>
                </c:pt>
                <c:pt idx="8">
                  <c:v>Белый Злат</c:v>
                </c:pt>
                <c:pt idx="9">
                  <c:v>Рот Фронт</c:v>
                </c:pt>
                <c:pt idx="10">
                  <c:v>Jacobs</c:v>
                </c:pt>
                <c:pt idx="11">
                  <c:v>Овощной ряд</c:v>
                </c:pt>
                <c:pt idx="12">
                  <c:v>Меридиан</c:v>
                </c:pt>
                <c:pt idx="13">
                  <c:v>Снежана</c:v>
                </c:pt>
                <c:pt idx="14">
                  <c:v>Продимекс</c:v>
                </c:pt>
                <c:pt idx="15">
                  <c:v>Ростагроэкспорт</c:v>
                </c:pt>
                <c:pt idx="16">
                  <c:v>Lipton</c:v>
                </c:pt>
                <c:pt idx="17">
                  <c:v>Русский сахар</c:v>
                </c:pt>
                <c:pt idx="18">
                  <c:v>Хлебный Дом</c:v>
                </c:pt>
                <c:pt idx="19">
                  <c:v>Мираторг</c:v>
                </c:pt>
                <c:pt idx="20">
                  <c:v>Эрманн</c:v>
                </c:pt>
                <c:pt idx="21">
                  <c:v>Илецкая</c:v>
                </c:pt>
                <c:pt idx="22">
                  <c:v>Русский Хлеб</c:v>
                </c:pt>
                <c:pt idx="23">
                  <c:v>Белогорье</c:v>
                </c:pt>
                <c:pt idx="24">
                  <c:v>President</c:v>
                </c:pt>
                <c:pt idx="25">
                  <c:v>Сладов</c:v>
                </c:pt>
                <c:pt idx="26">
                  <c:v>Экстра</c:v>
                </c:pt>
                <c:pt idx="27">
                  <c:v>Беллакт</c:v>
                </c:pt>
                <c:pt idx="28">
                  <c:v>Экзотик</c:v>
                </c:pt>
                <c:pt idx="29">
                  <c:v>Салта</c:v>
                </c:pt>
                <c:pt idx="30">
                  <c:v>Простоквашино</c:v>
                </c:pt>
                <c:pt idx="31">
                  <c:v>Фруктовый Рай</c:v>
                </c:pt>
                <c:pt idx="32">
                  <c:v>Каравай</c:v>
                </c:pt>
                <c:pt idx="33">
                  <c:v>Мистраль</c:v>
                </c:pt>
                <c:pt idx="34">
                  <c:v>Сава</c:v>
                </c:pt>
                <c:pt idx="35">
                  <c:v>Посиделкино</c:v>
                </c:pt>
                <c:pt idx="36">
                  <c:v>Агрокомплекс</c:v>
                </c:pt>
                <c:pt idx="37">
                  <c:v>КДВ</c:v>
                </c:pt>
                <c:pt idx="38">
                  <c:v>Окраина</c:v>
                </c:pt>
                <c:pt idx="39">
                  <c:v>Макфа</c:v>
                </c:pt>
                <c:pt idx="40">
                  <c:v>Estrella</c:v>
                </c:pt>
                <c:pt idx="41">
                  <c:v>Славянская</c:v>
                </c:pt>
                <c:pt idx="42">
                  <c:v>Добрый</c:v>
                </c:pt>
                <c:pt idx="43">
                  <c:v>Дымов</c:v>
                </c:pt>
                <c:pt idx="44">
                  <c:v>Русская картошка</c:v>
                </c:pt>
                <c:pt idx="45">
                  <c:v>Lay's</c:v>
                </c:pt>
                <c:pt idx="46">
                  <c:v>Чудо</c:v>
                </c:pt>
                <c:pt idx="47">
                  <c:v>Увелка</c:v>
                </c:pt>
                <c:pt idx="48">
                  <c:v>Сады Придонья</c:v>
                </c:pt>
                <c:pt idx="49">
                  <c:v>Ярмарка</c:v>
                </c:pt>
                <c:pt idx="50">
                  <c:v>Роллтон</c:v>
                </c:pt>
                <c:pt idx="51">
                  <c:v>Юбилейное</c:v>
                </c:pt>
                <c:pt idx="52">
                  <c:v>Балтийский берег</c:v>
                </c:pt>
                <c:pt idx="53">
                  <c:v>Гавриш</c:v>
                </c:pt>
                <c:pt idx="54">
                  <c:v>Черная Карта</c:v>
                </c:pt>
                <c:pt idx="55">
                  <c:v>Семко</c:v>
                </c:pt>
                <c:pt idx="56">
                  <c:v>Nescafe</c:v>
                </c:pt>
                <c:pt idx="57">
                  <c:v>Активиа</c:v>
                </c:pt>
                <c:pt idx="58">
                  <c:v>Карат</c:v>
                </c:pt>
                <c:pt idx="59">
                  <c:v>Green Garden</c:v>
                </c:pt>
                <c:pt idx="60">
                  <c:v>Красный Октябрь</c:v>
                </c:pt>
                <c:pt idx="61">
                  <c:v>Дарница</c:v>
                </c:pt>
                <c:pt idx="62">
                  <c:v>Ахмад</c:v>
                </c:pt>
                <c:pt idx="63">
                  <c:v>Агро-Альянс</c:v>
                </c:pt>
                <c:pt idx="64">
                  <c:v>Фрукты-Ягоды</c:v>
                </c:pt>
                <c:pt idx="65">
                  <c:v>Санта Бремор</c:v>
                </c:pt>
                <c:pt idx="66">
                  <c:v>Славянка</c:v>
                </c:pt>
                <c:pt idx="67">
                  <c:v>Националь</c:v>
                </c:pt>
                <c:pt idx="68">
                  <c:v>Агросахар</c:v>
                </c:pt>
                <c:pt idx="69">
                  <c:v>Rich</c:v>
                </c:pt>
                <c:pt idx="70">
                  <c:v>Русское море</c:v>
                </c:pt>
                <c:pt idx="71">
                  <c:v>Черкизово</c:v>
                </c:pt>
                <c:pt idx="72">
                  <c:v>Тесс</c:v>
                </c:pt>
                <c:pt idx="73">
                  <c:v>Зеленая грядка</c:v>
                </c:pt>
                <c:pt idx="74">
                  <c:v>Hochland</c:v>
                </c:pt>
                <c:pt idx="75">
                  <c:v>Tchibo</c:v>
                </c:pt>
                <c:pt idx="76">
                  <c:v>Вимм-Билль-Данн</c:v>
                </c:pt>
                <c:pt idx="77">
                  <c:v>Микоян</c:v>
                </c:pt>
              </c:strCache>
            </c:strRef>
          </c:cat>
          <c:val>
            <c:numRef>
              <c:f>'Суммарные прод по поставщикам'!$B$5:$B$82</c:f>
              <c:numCache>
                <c:formatCode>General</c:formatCode>
                <c:ptCount val="78"/>
                <c:pt idx="0">
                  <c:v>29430</c:v>
                </c:pt>
                <c:pt idx="1">
                  <c:v>24872</c:v>
                </c:pt>
                <c:pt idx="2">
                  <c:v>24200</c:v>
                </c:pt>
                <c:pt idx="3">
                  <c:v>21191</c:v>
                </c:pt>
                <c:pt idx="4">
                  <c:v>20462</c:v>
                </c:pt>
                <c:pt idx="5">
                  <c:v>20345</c:v>
                </c:pt>
                <c:pt idx="6">
                  <c:v>18739</c:v>
                </c:pt>
                <c:pt idx="7">
                  <c:v>18368</c:v>
                </c:pt>
                <c:pt idx="8">
                  <c:v>17471</c:v>
                </c:pt>
                <c:pt idx="9">
                  <c:v>16874</c:v>
                </c:pt>
                <c:pt idx="10">
                  <c:v>15751</c:v>
                </c:pt>
                <c:pt idx="11">
                  <c:v>15581</c:v>
                </c:pt>
                <c:pt idx="12">
                  <c:v>15507</c:v>
                </c:pt>
                <c:pt idx="13">
                  <c:v>14457</c:v>
                </c:pt>
                <c:pt idx="14">
                  <c:v>14154</c:v>
                </c:pt>
                <c:pt idx="15">
                  <c:v>13987</c:v>
                </c:pt>
                <c:pt idx="16">
                  <c:v>13772</c:v>
                </c:pt>
                <c:pt idx="17">
                  <c:v>13106</c:v>
                </c:pt>
                <c:pt idx="18">
                  <c:v>13056</c:v>
                </c:pt>
                <c:pt idx="19">
                  <c:v>12899</c:v>
                </c:pt>
                <c:pt idx="20">
                  <c:v>12851</c:v>
                </c:pt>
                <c:pt idx="21">
                  <c:v>12813</c:v>
                </c:pt>
                <c:pt idx="22">
                  <c:v>12712</c:v>
                </c:pt>
                <c:pt idx="23">
                  <c:v>12474</c:v>
                </c:pt>
                <c:pt idx="24">
                  <c:v>12207</c:v>
                </c:pt>
                <c:pt idx="25">
                  <c:v>12078</c:v>
                </c:pt>
                <c:pt idx="26">
                  <c:v>11937</c:v>
                </c:pt>
                <c:pt idx="27">
                  <c:v>11630</c:v>
                </c:pt>
                <c:pt idx="28">
                  <c:v>11100</c:v>
                </c:pt>
                <c:pt idx="29">
                  <c:v>10813</c:v>
                </c:pt>
                <c:pt idx="30">
                  <c:v>10714</c:v>
                </c:pt>
                <c:pt idx="31">
                  <c:v>10620</c:v>
                </c:pt>
                <c:pt idx="32">
                  <c:v>10451</c:v>
                </c:pt>
                <c:pt idx="33">
                  <c:v>10223</c:v>
                </c:pt>
                <c:pt idx="34">
                  <c:v>10168</c:v>
                </c:pt>
                <c:pt idx="35">
                  <c:v>9900</c:v>
                </c:pt>
                <c:pt idx="36">
                  <c:v>9699</c:v>
                </c:pt>
                <c:pt idx="37">
                  <c:v>9294</c:v>
                </c:pt>
                <c:pt idx="38">
                  <c:v>9286</c:v>
                </c:pt>
                <c:pt idx="39">
                  <c:v>9123</c:v>
                </c:pt>
                <c:pt idx="40">
                  <c:v>8954</c:v>
                </c:pt>
                <c:pt idx="41">
                  <c:v>8905</c:v>
                </c:pt>
                <c:pt idx="42">
                  <c:v>8861</c:v>
                </c:pt>
                <c:pt idx="43">
                  <c:v>8841</c:v>
                </c:pt>
                <c:pt idx="44">
                  <c:v>8649</c:v>
                </c:pt>
                <c:pt idx="45">
                  <c:v>8568</c:v>
                </c:pt>
                <c:pt idx="46">
                  <c:v>8543</c:v>
                </c:pt>
                <c:pt idx="47">
                  <c:v>8502</c:v>
                </c:pt>
                <c:pt idx="48">
                  <c:v>8237</c:v>
                </c:pt>
                <c:pt idx="49">
                  <c:v>8230</c:v>
                </c:pt>
                <c:pt idx="50">
                  <c:v>8047</c:v>
                </c:pt>
                <c:pt idx="51">
                  <c:v>7964</c:v>
                </c:pt>
                <c:pt idx="52">
                  <c:v>7420</c:v>
                </c:pt>
                <c:pt idx="53">
                  <c:v>7239</c:v>
                </c:pt>
                <c:pt idx="54">
                  <c:v>7224</c:v>
                </c:pt>
                <c:pt idx="55">
                  <c:v>6781</c:v>
                </c:pt>
                <c:pt idx="56">
                  <c:v>6367</c:v>
                </c:pt>
                <c:pt idx="57">
                  <c:v>6364</c:v>
                </c:pt>
                <c:pt idx="58">
                  <c:v>6329</c:v>
                </c:pt>
                <c:pt idx="59">
                  <c:v>6186</c:v>
                </c:pt>
                <c:pt idx="60">
                  <c:v>6162</c:v>
                </c:pt>
                <c:pt idx="61">
                  <c:v>6133</c:v>
                </c:pt>
                <c:pt idx="62">
                  <c:v>5915</c:v>
                </c:pt>
                <c:pt idx="63">
                  <c:v>5903</c:v>
                </c:pt>
                <c:pt idx="64">
                  <c:v>5896</c:v>
                </c:pt>
                <c:pt idx="65">
                  <c:v>5878</c:v>
                </c:pt>
                <c:pt idx="66">
                  <c:v>5299</c:v>
                </c:pt>
                <c:pt idx="67">
                  <c:v>5099</c:v>
                </c:pt>
                <c:pt idx="68">
                  <c:v>4813</c:v>
                </c:pt>
                <c:pt idx="69">
                  <c:v>3892</c:v>
                </c:pt>
                <c:pt idx="70">
                  <c:v>3625</c:v>
                </c:pt>
                <c:pt idx="71">
                  <c:v>3104</c:v>
                </c:pt>
                <c:pt idx="72">
                  <c:v>2748</c:v>
                </c:pt>
                <c:pt idx="73">
                  <c:v>1546</c:v>
                </c:pt>
                <c:pt idx="74">
                  <c:v>1529</c:v>
                </c:pt>
                <c:pt idx="75">
                  <c:v>1201</c:v>
                </c:pt>
                <c:pt idx="76">
                  <c:v>1082</c:v>
                </c:pt>
                <c:pt idx="77">
                  <c:v>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25-4507-A40C-DFD443C977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592656840"/>
        <c:axId val="592657920"/>
        <c:axId val="0"/>
      </c:bar3DChart>
      <c:catAx>
        <c:axId val="592656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1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92657920"/>
        <c:crosses val="autoZero"/>
        <c:auto val="1"/>
        <c:lblAlgn val="ctr"/>
        <c:lblOffset val="100"/>
        <c:noMultiLvlLbl val="0"/>
      </c:catAx>
      <c:valAx>
        <c:axId val="592657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926568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[ДЗ Урок 11 исходные данные (1).xlsx]Суммарные продажи по категориям!Сводная таблица4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1" u="none" strike="noStrike" kern="1200" spc="0" baseline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2400" b="1" i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Суммарные продажи по категориям</a:t>
            </a:r>
          </a:p>
        </c:rich>
      </c:tx>
      <c:layout>
        <c:manualLayout>
          <c:xMode val="edge"/>
          <c:yMode val="edge"/>
          <c:x val="0.40853415424328693"/>
          <c:y val="4.93335595431966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1" u="none" strike="noStrike" kern="1200" spc="0" baseline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ellipsis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'Суммарные продажи по категориям'!$B$3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'Суммарные продажи по категориям'!$A$4:$A$23</c:f>
              <c:strCache>
                <c:ptCount val="20"/>
                <c:pt idx="0">
                  <c:v>Йогурт</c:v>
                </c:pt>
                <c:pt idx="1">
                  <c:v>Колбаса</c:v>
                </c:pt>
                <c:pt idx="2">
                  <c:v>Конфеты</c:v>
                </c:pt>
                <c:pt idx="3">
                  <c:v>Кофе</c:v>
                </c:pt>
                <c:pt idx="4">
                  <c:v>Крупа</c:v>
                </c:pt>
                <c:pt idx="5">
                  <c:v>Макароны</c:v>
                </c:pt>
                <c:pt idx="6">
                  <c:v>Молоко</c:v>
                </c:pt>
                <c:pt idx="7">
                  <c:v>Мясо</c:v>
                </c:pt>
                <c:pt idx="8">
                  <c:v>Овощи</c:v>
                </c:pt>
                <c:pt idx="9">
                  <c:v>Печенье</c:v>
                </c:pt>
                <c:pt idx="10">
                  <c:v>Рис</c:v>
                </c:pt>
                <c:pt idx="11">
                  <c:v>Рыба</c:v>
                </c:pt>
                <c:pt idx="12">
                  <c:v>Сахар</c:v>
                </c:pt>
                <c:pt idx="13">
                  <c:v>Сок</c:v>
                </c:pt>
                <c:pt idx="14">
                  <c:v>Соль</c:v>
                </c:pt>
                <c:pt idx="15">
                  <c:v>Сыр</c:v>
                </c:pt>
                <c:pt idx="16">
                  <c:v>Фрукты</c:v>
                </c:pt>
                <c:pt idx="17">
                  <c:v>Хлеб</c:v>
                </c:pt>
                <c:pt idx="18">
                  <c:v>Чай</c:v>
                </c:pt>
                <c:pt idx="19">
                  <c:v>Чипсы</c:v>
                </c:pt>
              </c:strCache>
            </c:strRef>
          </c:cat>
          <c:val>
            <c:numRef>
              <c:f>'Суммарные продажи по категориям'!$B$4:$B$23</c:f>
              <c:numCache>
                <c:formatCode>General</c:formatCode>
                <c:ptCount val="20"/>
                <c:pt idx="0">
                  <c:v>41745</c:v>
                </c:pt>
                <c:pt idx="1">
                  <c:v>21313</c:v>
                </c:pt>
                <c:pt idx="2">
                  <c:v>48797</c:v>
                </c:pt>
                <c:pt idx="3">
                  <c:v>30543</c:v>
                </c:pt>
                <c:pt idx="4">
                  <c:v>28053</c:v>
                </c:pt>
                <c:pt idx="5">
                  <c:v>66945</c:v>
                </c:pt>
                <c:pt idx="6">
                  <c:v>42165</c:v>
                </c:pt>
                <c:pt idx="7">
                  <c:v>47223</c:v>
                </c:pt>
                <c:pt idx="8">
                  <c:v>31147</c:v>
                </c:pt>
                <c:pt idx="9">
                  <c:v>39632</c:v>
                </c:pt>
                <c:pt idx="10">
                  <c:v>27375</c:v>
                </c:pt>
                <c:pt idx="11">
                  <c:v>32430</c:v>
                </c:pt>
                <c:pt idx="12">
                  <c:v>44151</c:v>
                </c:pt>
                <c:pt idx="13">
                  <c:v>45862</c:v>
                </c:pt>
                <c:pt idx="14">
                  <c:v>44468</c:v>
                </c:pt>
                <c:pt idx="15">
                  <c:v>44265</c:v>
                </c:pt>
                <c:pt idx="16">
                  <c:v>33802</c:v>
                </c:pt>
                <c:pt idx="17">
                  <c:v>42352</c:v>
                </c:pt>
                <c:pt idx="18">
                  <c:v>43626</c:v>
                </c:pt>
                <c:pt idx="19">
                  <c:v>44539</c:v>
                </c:pt>
              </c:numCache>
            </c:numRef>
          </c:val>
          <c:shape val="pyramid"/>
          <c:extLst>
            <c:ext xmlns:c16="http://schemas.microsoft.com/office/drawing/2014/chart" uri="{C3380CC4-5D6E-409C-BE32-E72D297353CC}">
              <c16:uniqueId val="{00000000-44D1-4F2C-9396-CFE8AC4394D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532264712"/>
        <c:axId val="532265072"/>
        <c:axId val="0"/>
      </c:bar3DChart>
      <c:catAx>
        <c:axId val="532264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1" i="1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32265072"/>
        <c:crosses val="autoZero"/>
        <c:auto val="1"/>
        <c:lblAlgn val="ctr"/>
        <c:lblOffset val="100"/>
        <c:noMultiLvlLbl val="0"/>
      </c:catAx>
      <c:valAx>
        <c:axId val="53226507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32264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[ДЗ Урок 11 исходные данные (1).xlsx]Частота покупок в категориях!Сводная таблица6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400" b="1" i="1" u="none" strike="noStrike" kern="1200" spc="0" baseline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2400" b="1" i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Среднее количество по категориям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1" i="1" u="none" strike="noStrike" kern="1200" spc="0" baseline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/>
          <a:sp3d/>
        </c:spPr>
      </c:pivotFmt>
      <c:pivotFmt>
        <c:idx val="2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5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'Частота покупок в категориях'!$B$3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'Частота покупок в категориях'!$A$4:$A$23</c:f>
              <c:strCache>
                <c:ptCount val="20"/>
                <c:pt idx="0">
                  <c:v>Молоко</c:v>
                </c:pt>
                <c:pt idx="1">
                  <c:v>Рис</c:v>
                </c:pt>
                <c:pt idx="2">
                  <c:v>Овощи</c:v>
                </c:pt>
                <c:pt idx="3">
                  <c:v>Сахар</c:v>
                </c:pt>
                <c:pt idx="4">
                  <c:v>Рыба</c:v>
                </c:pt>
                <c:pt idx="5">
                  <c:v>Мясо</c:v>
                </c:pt>
                <c:pt idx="6">
                  <c:v>Хлеб</c:v>
                </c:pt>
                <c:pt idx="7">
                  <c:v>Соль</c:v>
                </c:pt>
                <c:pt idx="8">
                  <c:v>Печенье</c:v>
                </c:pt>
                <c:pt idx="9">
                  <c:v>Чипсы</c:v>
                </c:pt>
                <c:pt idx="10">
                  <c:v>Кофе</c:v>
                </c:pt>
                <c:pt idx="11">
                  <c:v>Конфеты</c:v>
                </c:pt>
                <c:pt idx="12">
                  <c:v>Сок</c:v>
                </c:pt>
                <c:pt idx="13">
                  <c:v>Фрукты</c:v>
                </c:pt>
                <c:pt idx="14">
                  <c:v>Макароны</c:v>
                </c:pt>
                <c:pt idx="15">
                  <c:v>Чай</c:v>
                </c:pt>
                <c:pt idx="16">
                  <c:v>Колбаса</c:v>
                </c:pt>
                <c:pt idx="17">
                  <c:v>Йогурт</c:v>
                </c:pt>
                <c:pt idx="18">
                  <c:v>Крупа</c:v>
                </c:pt>
                <c:pt idx="19">
                  <c:v>Сыр</c:v>
                </c:pt>
              </c:strCache>
            </c:strRef>
          </c:cat>
          <c:val>
            <c:numRef>
              <c:f>'Частота покупок в категориях'!$B$4:$B$23</c:f>
              <c:numCache>
                <c:formatCode>0.0</c:formatCode>
                <c:ptCount val="20"/>
                <c:pt idx="0">
                  <c:v>3.2380952380952381</c:v>
                </c:pt>
                <c:pt idx="1">
                  <c:v>3.1875</c:v>
                </c:pt>
                <c:pt idx="2">
                  <c:v>3.1463414634146343</c:v>
                </c:pt>
                <c:pt idx="3">
                  <c:v>3.1355932203389831</c:v>
                </c:pt>
                <c:pt idx="4">
                  <c:v>3.1282051282051282</c:v>
                </c:pt>
                <c:pt idx="5">
                  <c:v>3.1272727272727274</c:v>
                </c:pt>
                <c:pt idx="6">
                  <c:v>3.0909090909090908</c:v>
                </c:pt>
                <c:pt idx="7">
                  <c:v>3.0754716981132075</c:v>
                </c:pt>
                <c:pt idx="8">
                  <c:v>3.0638297872340425</c:v>
                </c:pt>
                <c:pt idx="9">
                  <c:v>3.0588235294117645</c:v>
                </c:pt>
                <c:pt idx="10">
                  <c:v>3.0476190476190474</c:v>
                </c:pt>
                <c:pt idx="11">
                  <c:v>2.9838709677419355</c:v>
                </c:pt>
                <c:pt idx="12">
                  <c:v>2.9827586206896552</c:v>
                </c:pt>
                <c:pt idx="13">
                  <c:v>2.9534883720930232</c:v>
                </c:pt>
                <c:pt idx="14">
                  <c:v>2.941860465116279</c:v>
                </c:pt>
                <c:pt idx="15">
                  <c:v>2.9272727272727272</c:v>
                </c:pt>
                <c:pt idx="16">
                  <c:v>2.8846153846153846</c:v>
                </c:pt>
                <c:pt idx="17">
                  <c:v>2.7627118644067798</c:v>
                </c:pt>
                <c:pt idx="18">
                  <c:v>2.7209302325581395</c:v>
                </c:pt>
                <c:pt idx="19">
                  <c:v>2.5873015873015874</c:v>
                </c:pt>
              </c:numCache>
            </c:numRef>
          </c:val>
          <c:shape val="cone"/>
          <c:extLst>
            <c:ext xmlns:c16="http://schemas.microsoft.com/office/drawing/2014/chart" uri="{C3380CC4-5D6E-409C-BE32-E72D297353CC}">
              <c16:uniqueId val="{00000000-4313-4FB7-8EEF-D5608719FC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shape val="box"/>
        <c:axId val="635389528"/>
        <c:axId val="613798736"/>
        <c:axId val="0"/>
      </c:bar3DChart>
      <c:catAx>
        <c:axId val="6353895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1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13798736"/>
        <c:crosses val="autoZero"/>
        <c:auto val="1"/>
        <c:lblAlgn val="ctr"/>
        <c:lblOffset val="100"/>
        <c:noMultiLvlLbl val="0"/>
      </c:catAx>
      <c:valAx>
        <c:axId val="613798736"/>
        <c:scaling>
          <c:orientation val="minMax"/>
        </c:scaling>
        <c:delete val="1"/>
        <c:axPos val="l"/>
        <c:numFmt formatCode="0.0" sourceLinked="1"/>
        <c:majorTickMark val="none"/>
        <c:minorTickMark val="none"/>
        <c:tickLblPos val="nextTo"/>
        <c:crossAx val="6353895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[ДЗ Урок 11 исходные данные (1).xlsx]География клиентов!Сводная таблица1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1" u="none" strike="noStrike" kern="1200" spc="0" baseline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2000" b="1" i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клиентов по странам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1" u="none" strike="noStrike" kern="1200" spc="0" baseline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5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prst="angl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prst="angle"/>
          </a:sp3d>
        </c:spPr>
      </c:pivotFmt>
      <c:pivotFmt>
        <c:idx val="2"/>
        <c:spPr>
          <a:solidFill>
            <a:schemeClr val="accent5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prst="angl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5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prst="angl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5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prst="angl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5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prst="angl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5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prst="angl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5"/>
          </a:solidFill>
          <a:ln>
            <a:noFill/>
          </a:ln>
          <a:effectLst/>
          <a:scene3d>
            <a:camera prst="orthographicFront"/>
            <a:lightRig rig="threePt" dir="t"/>
          </a:scene3d>
          <a:sp3d>
            <a:bevelT prst="angle"/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1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'География клиентов'!$B$3</c:f>
              <c:strCache>
                <c:ptCount val="1"/>
                <c:pt idx="0">
                  <c:v>Итог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'География клиентов'!$A$4:$A$9</c:f>
              <c:strCache>
                <c:ptCount val="5"/>
                <c:pt idx="0">
                  <c:v>Россия</c:v>
                </c:pt>
                <c:pt idx="1">
                  <c:v>Узбекистан</c:v>
                </c:pt>
                <c:pt idx="2">
                  <c:v>Украина</c:v>
                </c:pt>
                <c:pt idx="3">
                  <c:v>Таджикистан</c:v>
                </c:pt>
                <c:pt idx="4">
                  <c:v>Беларусь</c:v>
                </c:pt>
              </c:strCache>
            </c:strRef>
          </c:cat>
          <c:val>
            <c:numRef>
              <c:f>'География клиентов'!$B$4:$B$9</c:f>
              <c:numCache>
                <c:formatCode>General</c:formatCode>
                <c:ptCount val="5"/>
                <c:pt idx="0">
                  <c:v>146</c:v>
                </c:pt>
                <c:pt idx="1">
                  <c:v>85</c:v>
                </c:pt>
                <c:pt idx="2">
                  <c:v>78</c:v>
                </c:pt>
                <c:pt idx="3">
                  <c:v>74</c:v>
                </c:pt>
                <c:pt idx="4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EC-41DA-A553-4351F4D1F7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376150960"/>
        <c:axId val="376149160"/>
      </c:barChart>
      <c:catAx>
        <c:axId val="3761509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1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76149160"/>
        <c:crosses val="autoZero"/>
        <c:auto val="1"/>
        <c:lblAlgn val="ctr"/>
        <c:lblOffset val="100"/>
        <c:noMultiLvlLbl val="0"/>
      </c:catAx>
      <c:valAx>
        <c:axId val="37614916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761509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[ДЗ Урок 11 исходные данные (1).xlsx]Частотность имен !Сводная таблица1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1" u="none" strike="noStrike" kern="1200" cap="all" spc="150" baseline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2000" i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Частотность имен </a:t>
            </a:r>
          </a:p>
        </c:rich>
      </c:tx>
      <c:layout>
        <c:manualLayout>
          <c:xMode val="edge"/>
          <c:yMode val="edge"/>
          <c:x val="0.43895826132574456"/>
          <c:y val="9.061945086569725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1" u="none" strike="noStrike" kern="1200" cap="all" spc="150" baseline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ivotFmts>
      <c:pivotFmt>
        <c:idx val="0"/>
        <c:spPr>
          <a:pattFill prst="ltDnDiag">
            <a:fgClr>
              <a:schemeClr val="accent5"/>
            </a:fgClr>
            <a:bgClr>
              <a:schemeClr val="accent5">
                <a:lumMod val="20000"/>
                <a:lumOff val="80000"/>
              </a:schemeClr>
            </a:bgClr>
          </a:pattFill>
          <a:ln>
            <a:solidFill>
              <a:schemeClr val="accent5"/>
            </a:solidFill>
          </a:ln>
          <a:effectLst/>
          <a:sp3d>
            <a:contourClr>
              <a:schemeClr val="accent5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pattFill prst="ltDnDiag">
            <a:fgClr>
              <a:schemeClr val="accent5"/>
            </a:fgClr>
            <a:bgClr>
              <a:schemeClr val="accent5">
                <a:lumMod val="20000"/>
                <a:lumOff val="80000"/>
              </a:schemeClr>
            </a:bgClr>
          </a:pattFill>
          <a:ln>
            <a:solidFill>
              <a:schemeClr val="accent5"/>
            </a:solidFill>
          </a:ln>
          <a:effectLst/>
          <a:sp3d>
            <a:contourClr>
              <a:schemeClr val="accent5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pattFill prst="ltDnDiag">
            <a:fgClr>
              <a:schemeClr val="accent5"/>
            </a:fgClr>
            <a:bgClr>
              <a:schemeClr val="accent5">
                <a:lumMod val="20000"/>
                <a:lumOff val="80000"/>
              </a:schemeClr>
            </a:bgClr>
          </a:pattFill>
          <a:ln>
            <a:solidFill>
              <a:schemeClr val="accent5"/>
            </a:solidFill>
          </a:ln>
          <a:effectLst/>
          <a:sp3d>
            <a:contourClr>
              <a:schemeClr val="accent5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pattFill prst="ltDnDiag">
            <a:fgClr>
              <a:schemeClr val="accent5"/>
            </a:fgClr>
            <a:bgClr>
              <a:schemeClr val="accent5">
                <a:lumMod val="20000"/>
                <a:lumOff val="80000"/>
              </a:schemeClr>
            </a:bgClr>
          </a:pattFill>
          <a:ln>
            <a:solidFill>
              <a:schemeClr val="accent5"/>
            </a:solidFill>
          </a:ln>
          <a:effectLst/>
          <a:sp3d>
            <a:contourClr>
              <a:schemeClr val="accent5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pattFill prst="ltDnDiag">
            <a:fgClr>
              <a:schemeClr val="accent5"/>
            </a:fgClr>
            <a:bgClr>
              <a:schemeClr val="accent5">
                <a:lumMod val="20000"/>
                <a:lumOff val="80000"/>
              </a:schemeClr>
            </a:bgClr>
          </a:pattFill>
          <a:ln>
            <a:solidFill>
              <a:schemeClr val="accent5"/>
            </a:solidFill>
          </a:ln>
          <a:effectLst/>
          <a:sp3d>
            <a:contourClr>
              <a:schemeClr val="accent5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pattFill prst="ltDnDiag">
            <a:fgClr>
              <a:schemeClr val="accent5"/>
            </a:fgClr>
            <a:bgClr>
              <a:schemeClr val="accent5">
                <a:lumMod val="20000"/>
                <a:lumOff val="80000"/>
              </a:schemeClr>
            </a:bgClr>
          </a:pattFill>
          <a:ln>
            <a:solidFill>
              <a:schemeClr val="accent5"/>
            </a:solidFill>
          </a:ln>
          <a:effectLst/>
          <a:sp3d>
            <a:contourClr>
              <a:schemeClr val="accent5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pattFill prst="ltDnDiag">
            <a:fgClr>
              <a:schemeClr val="accent5"/>
            </a:fgClr>
            <a:bgClr>
              <a:schemeClr val="accent5">
                <a:lumMod val="20000"/>
                <a:lumOff val="80000"/>
              </a:schemeClr>
            </a:bgClr>
          </a:pattFill>
          <a:ln>
            <a:solidFill>
              <a:schemeClr val="accent5"/>
            </a:solidFill>
          </a:ln>
          <a:effectLst/>
          <a:sp3d>
            <a:contourClr>
              <a:schemeClr val="accent5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0"/>
      <c:rotY val="0"/>
      <c:depthPercent val="100"/>
      <c:rAngAx val="0"/>
    </c:view3D>
    <c:floor>
      <c:thickness val="0"/>
      <c:spPr>
        <a:solidFill>
          <a:schemeClr val="lt1"/>
        </a:solidFill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'Частотность имен '!$B$3</c:f>
              <c:strCache>
                <c:ptCount val="1"/>
                <c:pt idx="0">
                  <c:v>Итог</c:v>
                </c:pt>
              </c:strCache>
            </c:strRef>
          </c:tx>
          <c:spPr>
            <a:pattFill prst="ltDnDiag">
              <a:fgClr>
                <a:schemeClr val="accent5"/>
              </a:fgClr>
              <a:bgClr>
                <a:schemeClr val="accent5">
                  <a:lumMod val="20000"/>
                  <a:lumOff val="80000"/>
                </a:schemeClr>
              </a:bgClr>
            </a:pattFill>
            <a:ln>
              <a:solidFill>
                <a:schemeClr val="accent5"/>
              </a:solidFill>
            </a:ln>
            <a:effectLst/>
            <a:sp3d>
              <a:contourClr>
                <a:schemeClr val="accent5"/>
              </a:contourClr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2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'Частотность имен '!$A$4:$A$27</c:f>
              <c:strCache>
                <c:ptCount val="24"/>
                <c:pt idx="0">
                  <c:v>Феврония</c:v>
                </c:pt>
                <c:pt idx="1">
                  <c:v>Жанна</c:v>
                </c:pt>
                <c:pt idx="2">
                  <c:v>Василиса</c:v>
                </c:pt>
                <c:pt idx="3">
                  <c:v>Алевтина</c:v>
                </c:pt>
                <c:pt idx="4">
                  <c:v>Любовь</c:v>
                </c:pt>
                <c:pt idx="5">
                  <c:v>Юлия</c:v>
                </c:pt>
                <c:pt idx="6">
                  <c:v>Марфа</c:v>
                </c:pt>
                <c:pt idx="7">
                  <c:v>Вера</c:v>
                </c:pt>
                <c:pt idx="8">
                  <c:v>Эмилия</c:v>
                </c:pt>
                <c:pt idx="9">
                  <c:v>Валентина</c:v>
                </c:pt>
                <c:pt idx="10">
                  <c:v>Анастасия</c:v>
                </c:pt>
                <c:pt idx="11">
                  <c:v>Вероника</c:v>
                </c:pt>
                <c:pt idx="12">
                  <c:v>Зоя</c:v>
                </c:pt>
                <c:pt idx="13">
                  <c:v>Лора</c:v>
                </c:pt>
                <c:pt idx="14">
                  <c:v>Александра</c:v>
                </c:pt>
                <c:pt idx="15">
                  <c:v>Любомир</c:v>
                </c:pt>
                <c:pt idx="16">
                  <c:v>Элеонора</c:v>
                </c:pt>
                <c:pt idx="17">
                  <c:v>Татьяна</c:v>
                </c:pt>
                <c:pt idx="18">
                  <c:v>Анжела</c:v>
                </c:pt>
                <c:pt idx="19">
                  <c:v>Алла</c:v>
                </c:pt>
                <c:pt idx="20">
                  <c:v>Клавдия</c:v>
                </c:pt>
                <c:pt idx="21">
                  <c:v>Ираида</c:v>
                </c:pt>
                <c:pt idx="22">
                  <c:v>Ия</c:v>
                </c:pt>
                <c:pt idx="23">
                  <c:v>Иванна</c:v>
                </c:pt>
              </c:strCache>
            </c:strRef>
          </c:cat>
          <c:val>
            <c:numRef>
              <c:f>'Частотность имен '!$B$4:$B$27</c:f>
              <c:numCache>
                <c:formatCode>General</c:formatCode>
                <c:ptCount val="24"/>
                <c:pt idx="0">
                  <c:v>6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5</c:v>
                </c:pt>
                <c:pt idx="5">
                  <c:v>5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4</c:v>
                </c:pt>
                <c:pt idx="10">
                  <c:v>4</c:v>
                </c:pt>
                <c:pt idx="11">
                  <c:v>4</c:v>
                </c:pt>
                <c:pt idx="12">
                  <c:v>4</c:v>
                </c:pt>
                <c:pt idx="13">
                  <c:v>4</c:v>
                </c:pt>
                <c:pt idx="14">
                  <c:v>4</c:v>
                </c:pt>
                <c:pt idx="15">
                  <c:v>4</c:v>
                </c:pt>
                <c:pt idx="16">
                  <c:v>4</c:v>
                </c:pt>
                <c:pt idx="17">
                  <c:v>4</c:v>
                </c:pt>
                <c:pt idx="18">
                  <c:v>4</c:v>
                </c:pt>
                <c:pt idx="19">
                  <c:v>4</c:v>
                </c:pt>
                <c:pt idx="20">
                  <c:v>4</c:v>
                </c:pt>
                <c:pt idx="21">
                  <c:v>4</c:v>
                </c:pt>
                <c:pt idx="22">
                  <c:v>4</c:v>
                </c:pt>
                <c:pt idx="23">
                  <c:v>4</c:v>
                </c:pt>
              </c:numCache>
            </c:numRef>
          </c:val>
          <c:shape val="pyramid"/>
          <c:extLst>
            <c:ext xmlns:c16="http://schemas.microsoft.com/office/drawing/2014/chart" uri="{C3380CC4-5D6E-409C-BE32-E72D297353CC}">
              <c16:uniqueId val="{00000000-58A0-467F-82B5-EBB5F46C27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60"/>
        <c:gapDepth val="0"/>
        <c:shape val="box"/>
        <c:axId val="657213912"/>
        <c:axId val="657208152"/>
        <c:axId val="0"/>
      </c:bar3DChart>
      <c:catAx>
        <c:axId val="6572139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1" u="none" strike="noStrike" kern="1200" baseline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57208152"/>
        <c:crosses val="autoZero"/>
        <c:auto val="1"/>
        <c:lblAlgn val="ctr"/>
        <c:lblOffset val="100"/>
        <c:noMultiLvlLbl val="0"/>
      </c:catAx>
      <c:valAx>
        <c:axId val="65720815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572139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[ДЗ Урок 11 исходные данные (1).xlsx]Платежеспособность по странам!Сводная таблица2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1" u="none" strike="noStrike" kern="1200" spc="0" baseline="0">
                <a:solidFill>
                  <a:srgbClr val="0F243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az-Cyrl-AZ" sz="2000">
                <a:latin typeface="Times New Roman" panose="02020603050405020304" pitchFamily="18" charset="0"/>
                <a:cs typeface="Times New Roman" panose="02020603050405020304" pitchFamily="18" charset="0"/>
              </a:rPr>
              <a:t>Платежеспособность по странам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1" u="none" strike="noStrike" kern="1200" spc="0" baseline="0">
              <a:solidFill>
                <a:srgbClr val="0F243E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rgbClr val="92CDDC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noFill/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noFill/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rgbClr val="92CDDC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noFill/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noFill/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rgbClr val="92CDDC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noFill/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noFill/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rgbClr val="92CDDC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noFill/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noFill/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rgbClr val="92CDDC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noFill/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noFill/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rgbClr val="637CEF"/>
          </a:solidFill>
          <a:ln>
            <a:noFill/>
          </a:ln>
          <a:effectLst/>
        </c:spPr>
        <c:marker>
          <c:symbol val="none"/>
        </c:marker>
      </c:pivotFmt>
      <c:pivotFmt>
        <c:idx val="16"/>
        <c:spPr>
          <a:solidFill>
            <a:srgbClr val="637CEF"/>
          </a:solidFill>
          <a:ln>
            <a:noFill/>
          </a:ln>
          <a:effectLst/>
        </c:spPr>
        <c:marker>
          <c:symbol val="none"/>
        </c:marker>
      </c:pivotFmt>
      <c:pivotFmt>
        <c:idx val="17"/>
        <c:spPr>
          <a:solidFill>
            <a:srgbClr val="637CEF"/>
          </a:solidFill>
          <a:ln>
            <a:noFill/>
          </a:ln>
          <a:effectLst/>
        </c:spPr>
        <c:marker>
          <c:symbol val="none"/>
        </c:marker>
      </c:pivotFmt>
      <c:pivotFmt>
        <c:idx val="18"/>
        <c:spPr>
          <a:solidFill>
            <a:srgbClr val="92CDDC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rgbClr val="637CE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rgbClr val="637CE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rgbClr val="92CDDC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rgbClr val="637CE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rgbClr val="637CE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rgbClr val="92CDDC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rgbClr val="637CE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rgbClr val="637CEF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'Платежеспособность по странам'!$B$3</c:f>
              <c:strCache>
                <c:ptCount val="1"/>
                <c:pt idx="0">
                  <c:v>Сумма по полю сумма чека</c:v>
                </c:pt>
              </c:strCache>
            </c:strRef>
          </c:tx>
          <c:spPr>
            <a:solidFill>
              <a:srgbClr val="92CDDC"/>
            </a:solidFill>
            <a:ln>
              <a:noFill/>
            </a:ln>
            <a:effectLst/>
          </c:spPr>
          <c:invertIfNegative val="0"/>
          <c:cat>
            <c:strRef>
              <c:f>'Платежеспособность по странам'!$A$4:$A$8</c:f>
              <c:strCache>
                <c:ptCount val="5"/>
                <c:pt idx="0">
                  <c:v>Беларусь</c:v>
                </c:pt>
                <c:pt idx="1">
                  <c:v>Таджикистан</c:v>
                </c:pt>
                <c:pt idx="2">
                  <c:v>Украина</c:v>
                </c:pt>
                <c:pt idx="3">
                  <c:v>Узбекистан</c:v>
                </c:pt>
                <c:pt idx="4">
                  <c:v>Россия</c:v>
                </c:pt>
              </c:strCache>
            </c:strRef>
          </c:cat>
          <c:val>
            <c:numRef>
              <c:f>'Платежеспособность по странам'!$B$4:$B$8</c:f>
              <c:numCache>
                <c:formatCode>General</c:formatCode>
                <c:ptCount val="5"/>
                <c:pt idx="0">
                  <c:v>98793</c:v>
                </c:pt>
                <c:pt idx="1">
                  <c:v>139473</c:v>
                </c:pt>
                <c:pt idx="2">
                  <c:v>147543</c:v>
                </c:pt>
                <c:pt idx="3">
                  <c:v>163294</c:v>
                </c:pt>
                <c:pt idx="4">
                  <c:v>251330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1A-4BFA-9BE7-6AF3234C21DE}"/>
            </c:ext>
          </c:extLst>
        </c:ser>
        <c:ser>
          <c:idx val="1"/>
          <c:order val="1"/>
          <c:tx>
            <c:strRef>
              <c:f>'Платежеспособность по странам'!$C$3</c:f>
              <c:strCache>
                <c:ptCount val="1"/>
                <c:pt idx="0">
                  <c:v>Количество по полю id клиента</c:v>
                </c:pt>
              </c:strCache>
            </c:strRef>
          </c:tx>
          <c:spPr>
            <a:solidFill>
              <a:srgbClr val="E3008C"/>
            </a:solidFill>
            <a:ln>
              <a:noFill/>
            </a:ln>
            <a:effectLst/>
          </c:spPr>
          <c:invertIfNegative val="0"/>
          <c:cat>
            <c:strRef>
              <c:f>'Платежеспособность по странам'!$A$4:$A$8</c:f>
              <c:strCache>
                <c:ptCount val="5"/>
                <c:pt idx="0">
                  <c:v>Беларусь</c:v>
                </c:pt>
                <c:pt idx="1">
                  <c:v>Таджикистан</c:v>
                </c:pt>
                <c:pt idx="2">
                  <c:v>Украина</c:v>
                </c:pt>
                <c:pt idx="3">
                  <c:v>Узбекистан</c:v>
                </c:pt>
                <c:pt idx="4">
                  <c:v>Россия</c:v>
                </c:pt>
              </c:strCache>
            </c:strRef>
          </c:cat>
          <c:val>
            <c:numRef>
              <c:f>'Платежеспособность по странам'!$C$4:$C$8</c:f>
              <c:numCache>
                <c:formatCode>General</c:formatCode>
                <c:ptCount val="5"/>
                <c:pt idx="0">
                  <c:v>122</c:v>
                </c:pt>
                <c:pt idx="1">
                  <c:v>186</c:v>
                </c:pt>
                <c:pt idx="2">
                  <c:v>187</c:v>
                </c:pt>
                <c:pt idx="3">
                  <c:v>191</c:v>
                </c:pt>
                <c:pt idx="4">
                  <c:v>314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51A-4BFA-9BE7-6AF3234C21DE}"/>
            </c:ext>
          </c:extLst>
        </c:ser>
        <c:ser>
          <c:idx val="2"/>
          <c:order val="2"/>
          <c:tx>
            <c:strRef>
              <c:f>'Платежеспособность по странам'!$D$3</c:f>
              <c:strCache>
                <c:ptCount val="1"/>
                <c:pt idx="0">
                  <c:v>Среднее по полю сумма чека2</c:v>
                </c:pt>
              </c:strCache>
            </c:strRef>
          </c:tx>
          <c:spPr>
            <a:solidFill>
              <a:srgbClr val="2AA0A4"/>
            </a:solidFill>
            <a:ln>
              <a:noFill/>
            </a:ln>
            <a:effectLst/>
          </c:spPr>
          <c:invertIfNegative val="0"/>
          <c:cat>
            <c:strRef>
              <c:f>'Платежеспособность по странам'!$A$4:$A$8</c:f>
              <c:strCache>
                <c:ptCount val="5"/>
                <c:pt idx="0">
                  <c:v>Беларусь</c:v>
                </c:pt>
                <c:pt idx="1">
                  <c:v>Таджикистан</c:v>
                </c:pt>
                <c:pt idx="2">
                  <c:v>Украина</c:v>
                </c:pt>
                <c:pt idx="3">
                  <c:v>Узбекистан</c:v>
                </c:pt>
                <c:pt idx="4">
                  <c:v>Россия</c:v>
                </c:pt>
              </c:strCache>
            </c:strRef>
          </c:cat>
          <c:val>
            <c:numRef>
              <c:f>'Платежеспособность по странам'!$D$4:$D$8</c:f>
              <c:numCache>
                <c:formatCode>0</c:formatCode>
                <c:ptCount val="5"/>
                <c:pt idx="0">
                  <c:v>809.77868852459017</c:v>
                </c:pt>
                <c:pt idx="1">
                  <c:v>749.85483870967744</c:v>
                </c:pt>
                <c:pt idx="2">
                  <c:v>789</c:v>
                </c:pt>
                <c:pt idx="3">
                  <c:v>854.94240837696339</c:v>
                </c:pt>
                <c:pt idx="4">
                  <c:v>800.41401273885356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51A-4BFA-9BE7-6AF3234C21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889416711"/>
        <c:axId val="889423367"/>
      </c:barChart>
      <c:catAx>
        <c:axId val="8894167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1" u="none" strike="noStrike" kern="1200" baseline="0">
                <a:solidFill>
                  <a:srgbClr val="0F243E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9423367"/>
        <c:crosses val="autoZero"/>
        <c:auto val="1"/>
        <c:lblAlgn val="ctr"/>
        <c:lblOffset val="100"/>
        <c:noMultiLvlLbl val="0"/>
      </c:catAx>
      <c:valAx>
        <c:axId val="88942336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1" u="none" strike="noStrike" kern="1200" baseline="0">
                <a:solidFill>
                  <a:srgbClr val="0F243E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94167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[ДЗ Урок 11 исходные данные (1).xlsx]Программа лояльности!Сводная таблица2</c:name>
    <c:fmtId val="1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1" i="1" u="none" strike="noStrike" kern="1200" cap="all" baseline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ru-RU" sz="2000" i="1" cap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 лояльности</a:t>
            </a:r>
          </a:p>
        </c:rich>
      </c:tx>
      <c:layout>
        <c:manualLayout>
          <c:xMode val="edge"/>
          <c:yMode val="edge"/>
          <c:x val="0.14656858204143167"/>
          <c:y val="2.484472049689440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1" i="1" u="none" strike="noStrike" kern="1200" cap="all" baseline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ru-RU"/>
        </a:p>
      </c:txPr>
    </c:title>
    <c:autoTitleDeleted val="0"/>
    <c:pivotFmts>
      <c:pivotFmt>
        <c:idx val="0"/>
        <c:spPr>
          <a:solidFill>
            <a:schemeClr val="accent5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rgbClr val="4BACC6"/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accent5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"/>
        <c:spPr>
          <a:solidFill>
            <a:schemeClr val="accent5">
              <a:shade val="76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8.8888888888888781E-2"/>
              <c:y val="-1.1574074074074073E-2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fld id="{B1338531-4C08-41B6-A63A-3ABCA42B15A5}" type="CATEGORYNAME">
                  <a:rPr lang="az-Cyrl-AZ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[ИМЯ КАТЕГОРИИ]</a:t>
                </a:fld>
                <a:r>
                  <a:rPr lang="az-Cyrl-AZ" baseline="0"/>
                  <a:t>
</a:t>
                </a:r>
                <a:fld id="{395F87D4-60F5-4A44-8A07-5897CD88CB6A}" type="PERCENTAGE">
                  <a:rPr lang="az-Cyrl-AZ" baseline="0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[ПРОЦЕНТ]</a:t>
                </a:fld>
                <a:endParaRPr lang="az-Cyrl-AZ" baseline="0"/>
              </a:p>
            </c:rich>
          </c:tx>
          <c:spPr>
            <a:solidFill>
              <a:sysClr val="window" lastClr="FFFFFF"/>
            </a:solidFill>
            <a:ln>
              <a:solidFill>
                <a:srgbClr val="4BACC6"/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000" b="1" i="0" u="none" strike="noStrike" kern="1200" baseline="0">
                  <a:solidFill>
                    <a:schemeClr val="accent5"/>
                  </a:solidFill>
                  <a:latin typeface="+mn-lt"/>
                  <a:ea typeface="+mn-ea"/>
                  <a:cs typeface="+mn-cs"/>
                </a:defRPr>
              </a:pPr>
              <a:endParaRPr lang="az-Cyrl-AZ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2127449693788277"/>
                  <c:h val="0.225359434237387"/>
                </c:manualLayout>
              </c15:layout>
              <c15:dlblFieldTable/>
              <c15:showDataLabelsRange val="0"/>
            </c:ext>
          </c:extLst>
        </c:dLbl>
      </c:pivotFmt>
      <c:pivotFmt>
        <c:idx val="2"/>
        <c:spPr>
          <a:solidFill>
            <a:schemeClr val="accent5">
              <a:tint val="77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-0.15"/>
              <c:y val="-2.314814814814814E-2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fld id="{B2C17619-F142-4DC5-AF01-F2A5B51550CB}" type="CATEGORYNAME">
                  <a:rPr lang="az-Cyrl-AZ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[ИМЯ КАТЕГОРИИ]</a:t>
                </a:fld>
                <a:r>
                  <a:rPr lang="az-Cyrl-AZ" baseline="0"/>
                  <a:t>
</a:t>
                </a:r>
                <a:fld id="{B14DBCE2-0EF2-4E04-8EA6-1DC508C58472}" type="PERCENTAGE">
                  <a:rPr lang="az-Cyrl-AZ" baseline="0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[ПРОЦЕНТ]</a:t>
                </a:fld>
                <a:endParaRPr lang="az-Cyrl-AZ" baseline="0"/>
              </a:p>
            </c:rich>
          </c:tx>
          <c:spPr>
            <a:solidFill>
              <a:sysClr val="window" lastClr="FFFFFF"/>
            </a:solidFill>
            <a:ln>
              <a:solidFill>
                <a:srgbClr val="4BACC6"/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000" b="1" i="0" u="none" strike="noStrike" kern="1200" baseline="0">
                  <a:solidFill>
                    <a:schemeClr val="accent5"/>
                  </a:solidFill>
                  <a:latin typeface="+mn-lt"/>
                  <a:ea typeface="+mn-ea"/>
                  <a:cs typeface="+mn-cs"/>
                </a:defRPr>
              </a:pPr>
              <a:endParaRPr lang="az-Cyrl-AZ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9.905227471566054E-2"/>
                  <c:h val="0.19295202682997958"/>
                </c:manualLayout>
              </c15:layout>
              <c15:dlblFieldTable/>
              <c15:showDataLabelsRange val="0"/>
            </c:ext>
          </c:extLst>
        </c:dLbl>
      </c:pivotFmt>
      <c:pivotFmt>
        <c:idx val="3"/>
        <c:spPr>
          <a:solidFill>
            <a:schemeClr val="accent5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rgbClr val="4BACC6"/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accent5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4"/>
        <c:spPr>
          <a:solidFill>
            <a:schemeClr val="accent5">
              <a:shade val="76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8.8888888888888781E-2"/>
              <c:y val="-1.1574074074074073E-2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fld id="{B1338531-4C08-41B6-A63A-3ABCA42B15A5}" type="CATEGORYNAME">
                  <a:rPr lang="az-Cyrl-AZ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[ИМЯ КАТЕГОРИИ]</a:t>
                </a:fld>
                <a:r>
                  <a:rPr lang="az-Cyrl-AZ" baseline="0"/>
                  <a:t>
</a:t>
                </a:r>
                <a:fld id="{395F87D4-60F5-4A44-8A07-5897CD88CB6A}" type="PERCENTAGE">
                  <a:rPr lang="az-Cyrl-AZ" baseline="0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[ПРОЦЕНТ]</a:t>
                </a:fld>
                <a:endParaRPr lang="az-Cyrl-AZ" baseline="0"/>
              </a:p>
            </c:rich>
          </c:tx>
          <c:spPr>
            <a:solidFill>
              <a:sysClr val="window" lastClr="FFFFFF"/>
            </a:solidFill>
            <a:ln>
              <a:solidFill>
                <a:srgbClr val="4BACC6"/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000" b="1" i="0" u="none" strike="noStrike" kern="1200" baseline="0">
                  <a:solidFill>
                    <a:schemeClr val="accent5"/>
                  </a:solidFill>
                  <a:latin typeface="+mn-lt"/>
                  <a:ea typeface="+mn-ea"/>
                  <a:cs typeface="+mn-cs"/>
                </a:defRPr>
              </a:pPr>
              <a:endParaRPr lang="az-Cyrl-AZ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2127449693788277"/>
                  <c:h val="0.225359434237387"/>
                </c:manualLayout>
              </c15:layout>
              <c15:dlblFieldTable/>
              <c15:showDataLabelsRange val="0"/>
            </c:ext>
          </c:extLst>
        </c:dLbl>
      </c:pivotFmt>
      <c:pivotFmt>
        <c:idx val="5"/>
        <c:spPr>
          <a:solidFill>
            <a:schemeClr val="accent5">
              <a:tint val="77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-0.15"/>
              <c:y val="-2.314814814814814E-2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fld id="{B2C17619-F142-4DC5-AF01-F2A5B51550CB}" type="CATEGORYNAME">
                  <a:rPr lang="az-Cyrl-AZ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[ИМЯ КАТЕГОРИИ]</a:t>
                </a:fld>
                <a:r>
                  <a:rPr lang="az-Cyrl-AZ" baseline="0"/>
                  <a:t>
</a:t>
                </a:r>
                <a:fld id="{B14DBCE2-0EF2-4E04-8EA6-1DC508C58472}" type="PERCENTAGE">
                  <a:rPr lang="az-Cyrl-AZ" baseline="0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[ПРОЦЕНТ]</a:t>
                </a:fld>
                <a:endParaRPr lang="az-Cyrl-AZ" baseline="0"/>
              </a:p>
            </c:rich>
          </c:tx>
          <c:spPr>
            <a:solidFill>
              <a:sysClr val="window" lastClr="FFFFFF"/>
            </a:solidFill>
            <a:ln>
              <a:solidFill>
                <a:srgbClr val="4BACC6"/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000" b="1" i="0" u="none" strike="noStrike" kern="1200" baseline="0">
                  <a:solidFill>
                    <a:schemeClr val="accent5"/>
                  </a:solidFill>
                  <a:latin typeface="+mn-lt"/>
                  <a:ea typeface="+mn-ea"/>
                  <a:cs typeface="+mn-cs"/>
                </a:defRPr>
              </a:pPr>
              <a:endParaRPr lang="az-Cyrl-AZ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9.905227471566054E-2"/>
                  <c:h val="0.19295202682997958"/>
                </c:manualLayout>
              </c15:layout>
              <c15:dlblFieldTable/>
              <c15:showDataLabelsRange val="0"/>
            </c:ext>
          </c:extLst>
        </c:dLbl>
      </c:pivotFmt>
      <c:pivotFmt>
        <c:idx val="6"/>
        <c:spPr>
          <a:solidFill>
            <a:schemeClr val="accent5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rgbClr val="4BACC6"/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accent5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7"/>
        <c:spPr>
          <a:solidFill>
            <a:schemeClr val="accent5">
              <a:shade val="76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8.8888888888888781E-2"/>
              <c:y val="-1.1574074074074073E-2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fld id="{B1338531-4C08-41B6-A63A-3ABCA42B15A5}" type="CATEGORYNAME">
                  <a:rPr lang="az-Cyrl-AZ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[ИМЯ КАТЕГОРИИ]</a:t>
                </a:fld>
                <a:r>
                  <a:rPr lang="az-Cyrl-AZ" baseline="0"/>
                  <a:t>
</a:t>
                </a:r>
                <a:fld id="{395F87D4-60F5-4A44-8A07-5897CD88CB6A}" type="PERCENTAGE">
                  <a:rPr lang="az-Cyrl-AZ" baseline="0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[ПРОЦЕНТ]</a:t>
                </a:fld>
                <a:endParaRPr lang="az-Cyrl-AZ" baseline="0"/>
              </a:p>
            </c:rich>
          </c:tx>
          <c:spPr>
            <a:solidFill>
              <a:sysClr val="window" lastClr="FFFFFF"/>
            </a:solidFill>
            <a:ln>
              <a:solidFill>
                <a:srgbClr val="4BACC6"/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000" b="1" i="0" u="none" strike="noStrike" kern="1200" baseline="0">
                  <a:solidFill>
                    <a:schemeClr val="accent5"/>
                  </a:solidFill>
                  <a:latin typeface="+mn-lt"/>
                  <a:ea typeface="+mn-ea"/>
                  <a:cs typeface="+mn-cs"/>
                </a:defRPr>
              </a:pPr>
              <a:endParaRPr lang="az-Cyrl-AZ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2127449693788277"/>
                  <c:h val="0.225359434237387"/>
                </c:manualLayout>
              </c15:layout>
              <c15:dlblFieldTable/>
              <c15:showDataLabelsRange val="0"/>
            </c:ext>
          </c:extLst>
        </c:dLbl>
      </c:pivotFmt>
      <c:pivotFmt>
        <c:idx val="8"/>
        <c:spPr>
          <a:solidFill>
            <a:schemeClr val="accent5">
              <a:tint val="77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-0.15"/>
              <c:y val="-2.314814814814814E-2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fld id="{B2C17619-F142-4DC5-AF01-F2A5B51550CB}" type="CATEGORYNAME">
                  <a:rPr lang="az-Cyrl-AZ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[ИМЯ КАТЕГОРИИ]</a:t>
                </a:fld>
                <a:r>
                  <a:rPr lang="az-Cyrl-AZ" baseline="0"/>
                  <a:t>
</a:t>
                </a:r>
                <a:fld id="{B14DBCE2-0EF2-4E04-8EA6-1DC508C58472}" type="PERCENTAGE">
                  <a:rPr lang="az-Cyrl-AZ" baseline="0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[ПРОЦЕНТ]</a:t>
                </a:fld>
                <a:endParaRPr lang="az-Cyrl-AZ" baseline="0"/>
              </a:p>
            </c:rich>
          </c:tx>
          <c:spPr>
            <a:solidFill>
              <a:sysClr val="window" lastClr="FFFFFF"/>
            </a:solidFill>
            <a:ln>
              <a:solidFill>
                <a:srgbClr val="4BACC6"/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000" b="1" i="0" u="none" strike="noStrike" kern="1200" baseline="0">
                  <a:solidFill>
                    <a:schemeClr val="accent5"/>
                  </a:solidFill>
                  <a:latin typeface="+mn-lt"/>
                  <a:ea typeface="+mn-ea"/>
                  <a:cs typeface="+mn-cs"/>
                </a:defRPr>
              </a:pPr>
              <a:endParaRPr lang="az-Cyrl-AZ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9.905227471566054E-2"/>
                  <c:h val="0.19295202682997958"/>
                </c:manualLayout>
              </c15:layout>
              <c15:dlblFieldTable/>
              <c15:showDataLabelsRange val="0"/>
            </c:ext>
          </c:extLst>
        </c:dLbl>
      </c:pivotFmt>
      <c:pivotFmt>
        <c:idx val="9"/>
        <c:spPr>
          <a:solidFill>
            <a:schemeClr val="accent5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rgbClr val="4BACC6"/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accent5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0"/>
        <c:spPr>
          <a:solidFill>
            <a:schemeClr val="accent5">
              <a:shade val="76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8.8888888888888781E-2"/>
              <c:y val="-1.1574074074074073E-2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fld id="{B1338531-4C08-41B6-A63A-3ABCA42B15A5}" type="CATEGORYNAME">
                  <a:rPr lang="az-Cyrl-AZ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[ИМЯ КАТЕГОРИИ]</a:t>
                </a:fld>
                <a:r>
                  <a:rPr lang="az-Cyrl-AZ" baseline="0"/>
                  <a:t>
</a:t>
                </a:r>
                <a:fld id="{395F87D4-60F5-4A44-8A07-5897CD88CB6A}" type="PERCENTAGE">
                  <a:rPr lang="az-Cyrl-AZ" baseline="0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[ПРОЦЕНТ]</a:t>
                </a:fld>
                <a:endParaRPr lang="az-Cyrl-AZ" baseline="0"/>
              </a:p>
            </c:rich>
          </c:tx>
          <c:spPr>
            <a:solidFill>
              <a:sysClr val="window" lastClr="FFFFFF"/>
            </a:solidFill>
            <a:ln>
              <a:solidFill>
                <a:srgbClr val="4BACC6"/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000" b="1" i="0" u="none" strike="noStrike" kern="1200" baseline="0">
                  <a:solidFill>
                    <a:schemeClr val="accent5"/>
                  </a:solidFill>
                  <a:latin typeface="+mn-lt"/>
                  <a:ea typeface="+mn-ea"/>
                  <a:cs typeface="+mn-cs"/>
                </a:defRPr>
              </a:pPr>
              <a:endParaRPr lang="az-Cyrl-AZ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2127449693788277"/>
                  <c:h val="0.225359434237387"/>
                </c:manualLayout>
              </c15:layout>
              <c15:dlblFieldTable/>
              <c15:showDataLabelsRange val="0"/>
            </c:ext>
          </c:extLst>
        </c:dLbl>
      </c:pivotFmt>
      <c:pivotFmt>
        <c:idx val="11"/>
        <c:spPr>
          <a:solidFill>
            <a:schemeClr val="accent5">
              <a:tint val="77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-0.15"/>
              <c:y val="-2.314814814814814E-2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fld id="{B2C17619-F142-4DC5-AF01-F2A5B51550CB}" type="CATEGORYNAME">
                  <a:rPr lang="az-Cyrl-AZ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[ИМЯ КАТЕГОРИИ]</a:t>
                </a:fld>
                <a:r>
                  <a:rPr lang="az-Cyrl-AZ" baseline="0"/>
                  <a:t>
</a:t>
                </a:r>
                <a:fld id="{B14DBCE2-0EF2-4E04-8EA6-1DC508C58472}" type="PERCENTAGE">
                  <a:rPr lang="az-Cyrl-AZ" baseline="0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[ПРОЦЕНТ]</a:t>
                </a:fld>
                <a:endParaRPr lang="az-Cyrl-AZ" baseline="0"/>
              </a:p>
            </c:rich>
          </c:tx>
          <c:spPr>
            <a:solidFill>
              <a:sysClr val="window" lastClr="FFFFFF"/>
            </a:solidFill>
            <a:ln>
              <a:solidFill>
                <a:srgbClr val="4BACC6"/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000" b="1" i="0" u="none" strike="noStrike" kern="1200" baseline="0">
                  <a:solidFill>
                    <a:schemeClr val="accent5"/>
                  </a:solidFill>
                  <a:latin typeface="+mn-lt"/>
                  <a:ea typeface="+mn-ea"/>
                  <a:cs typeface="+mn-cs"/>
                </a:defRPr>
              </a:pPr>
              <a:endParaRPr lang="az-Cyrl-AZ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9.905227471566054E-2"/>
                  <c:h val="0.19295202682997958"/>
                </c:manualLayout>
              </c15:layout>
              <c15:dlblFieldTable/>
              <c15:showDataLabelsRange val="0"/>
            </c:ext>
          </c:extLst>
        </c:dLbl>
      </c:pivotFmt>
      <c:pivotFmt>
        <c:idx val="12"/>
        <c:spPr>
          <a:solidFill>
            <a:schemeClr val="accent5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rgbClr val="4BACC6"/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accent5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3"/>
        <c:spPr>
          <a:solidFill>
            <a:schemeClr val="accent5">
              <a:shade val="76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8.8888888888888781E-2"/>
              <c:y val="-1.1574074074074073E-2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fld id="{B1338531-4C08-41B6-A63A-3ABCA42B15A5}" type="CATEGORYNAME">
                  <a:rPr lang="ru-RU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[ИМЯ КАТЕГОРИИ]</a:t>
                </a:fld>
                <a:r>
                  <a:rPr lang="ru-RU" baseline="0"/>
                  <a:t>
</a:t>
                </a:r>
                <a:fld id="{395F87D4-60F5-4A44-8A07-5897CD88CB6A}" type="PERCENTAGE">
                  <a:rPr lang="ru-RU" baseline="0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[ПРОЦЕНТ]</a:t>
                </a:fld>
                <a:endParaRPr lang="ru-RU" baseline="0"/>
              </a:p>
            </c:rich>
          </c:tx>
          <c:spPr>
            <a:solidFill>
              <a:sysClr val="window" lastClr="FFFFFF"/>
            </a:solidFill>
            <a:ln>
              <a:solidFill>
                <a:srgbClr val="4BACC6"/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000" b="1" i="0" u="none" strike="noStrike" kern="1200" baseline="0">
                  <a:solidFill>
                    <a:schemeClr val="accent5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2127449693788277"/>
                  <c:h val="0.225359434237387"/>
                </c:manualLayout>
              </c15:layout>
              <c15:dlblFieldTable/>
              <c15:showDataLabelsRange val="0"/>
            </c:ext>
          </c:extLst>
        </c:dLbl>
      </c:pivotFmt>
      <c:pivotFmt>
        <c:idx val="14"/>
        <c:spPr>
          <a:solidFill>
            <a:schemeClr val="accent5">
              <a:tint val="77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-0.15"/>
              <c:y val="-2.314814814814814E-2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fld id="{B2C17619-F142-4DC5-AF01-F2A5B51550CB}" type="CATEGORYNAME">
                  <a:rPr lang="ru-RU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[ИМЯ КАТЕГОРИИ]</a:t>
                </a:fld>
                <a:r>
                  <a:rPr lang="ru-RU" baseline="0"/>
                  <a:t>
</a:t>
                </a:r>
                <a:fld id="{B14DBCE2-0EF2-4E04-8EA6-1DC508C58472}" type="PERCENTAGE">
                  <a:rPr lang="ru-RU" baseline="0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[ПРОЦЕНТ]</a:t>
                </a:fld>
                <a:endParaRPr lang="ru-RU" baseline="0"/>
              </a:p>
            </c:rich>
          </c:tx>
          <c:spPr>
            <a:solidFill>
              <a:sysClr val="window" lastClr="FFFFFF"/>
            </a:solidFill>
            <a:ln>
              <a:solidFill>
                <a:srgbClr val="4BACC6"/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000" b="1" i="0" u="none" strike="noStrike" kern="1200" baseline="0">
                  <a:solidFill>
                    <a:schemeClr val="accent5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9.905227471566054E-2"/>
                  <c:h val="0.19295202682997958"/>
                </c:manualLayout>
              </c15:layout>
              <c15:dlblFieldTable/>
              <c15:showDataLabelsRange val="0"/>
            </c:ext>
          </c:extLst>
        </c:dLbl>
      </c:pivotFmt>
      <c:pivotFmt>
        <c:idx val="15"/>
        <c:spPr>
          <a:solidFill>
            <a:schemeClr val="accent5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rgbClr val="4BACC6"/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accent5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6"/>
        <c:spPr>
          <a:solidFill>
            <a:schemeClr val="accent5">
              <a:shade val="76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8.8888888888888781E-2"/>
              <c:y val="-1.1574074074074073E-2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fld id="{B1338531-4C08-41B6-A63A-3ABCA42B15A5}" type="CATEGORYNAME">
                  <a:rPr lang="ru-RU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[ИМЯ КАТЕГОРИИ]</a:t>
                </a:fld>
                <a:r>
                  <a:rPr lang="ru-RU" baseline="0"/>
                  <a:t>
</a:t>
                </a:r>
                <a:fld id="{395F87D4-60F5-4A44-8A07-5897CD88CB6A}" type="PERCENTAGE">
                  <a:rPr lang="ru-RU" baseline="0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[ПРОЦЕНТ]</a:t>
                </a:fld>
                <a:endParaRPr lang="ru-RU" baseline="0"/>
              </a:p>
            </c:rich>
          </c:tx>
          <c:spPr>
            <a:solidFill>
              <a:sysClr val="window" lastClr="FFFFFF"/>
            </a:solidFill>
            <a:ln>
              <a:solidFill>
                <a:srgbClr val="4BACC6"/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000" b="1" i="0" u="none" strike="noStrike" kern="1200" baseline="0">
                  <a:solidFill>
                    <a:schemeClr val="accent5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2127449693788277"/>
                  <c:h val="0.225359434237387"/>
                </c:manualLayout>
              </c15:layout>
              <c15:dlblFieldTable/>
              <c15:showDataLabelsRange val="0"/>
            </c:ext>
          </c:extLst>
        </c:dLbl>
      </c:pivotFmt>
      <c:pivotFmt>
        <c:idx val="17"/>
        <c:spPr>
          <a:solidFill>
            <a:schemeClr val="accent5">
              <a:tint val="77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-0.15"/>
              <c:y val="-2.314814814814814E-2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fld id="{B2C17619-F142-4DC5-AF01-F2A5B51550CB}" type="CATEGORYNAME">
                  <a:rPr lang="ru-RU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[ИМЯ КАТЕГОРИИ]</a:t>
                </a:fld>
                <a:r>
                  <a:rPr lang="ru-RU" baseline="0"/>
                  <a:t>
</a:t>
                </a:r>
                <a:fld id="{B14DBCE2-0EF2-4E04-8EA6-1DC508C58472}" type="PERCENTAGE">
                  <a:rPr lang="ru-RU" baseline="0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[ПРОЦЕНТ]</a:t>
                </a:fld>
                <a:endParaRPr lang="ru-RU" baseline="0"/>
              </a:p>
            </c:rich>
          </c:tx>
          <c:spPr>
            <a:solidFill>
              <a:sysClr val="window" lastClr="FFFFFF"/>
            </a:solidFill>
            <a:ln>
              <a:solidFill>
                <a:srgbClr val="4BACC6"/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000" b="1" i="0" u="none" strike="noStrike" kern="1200" baseline="0">
                  <a:solidFill>
                    <a:schemeClr val="accent5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9.905227471566054E-2"/>
                  <c:h val="0.19295202682997958"/>
                </c:manualLayout>
              </c15:layout>
              <c15:dlblFieldTable/>
              <c15:showDataLabelsRange val="0"/>
            </c:ext>
          </c:extLst>
        </c:dLbl>
      </c:pivotFmt>
      <c:pivotFmt>
        <c:idx val="18"/>
        <c:spPr>
          <a:solidFill>
            <a:schemeClr val="accent5"/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solidFill>
              <a:sysClr val="window" lastClr="FFFFFF"/>
            </a:solidFill>
            <a:ln>
              <a:solidFill>
                <a:srgbClr val="4BACC6"/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accent5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outEnd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</c:ext>
          </c:extLst>
        </c:dLbl>
      </c:pivotFmt>
      <c:pivotFmt>
        <c:idx val="19"/>
        <c:spPr>
          <a:solidFill>
            <a:schemeClr val="accent5">
              <a:shade val="76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8.8888888888888781E-2"/>
              <c:y val="-1.1574074074074073E-2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fld id="{B1338531-4C08-41B6-A63A-3ABCA42B15A5}" type="CATEGORYNAME">
                  <a:rPr lang="ru-RU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[ИМЯ КАТЕГОРИИ]</a:t>
                </a:fld>
                <a:r>
                  <a:rPr lang="ru-RU" baseline="0"/>
                  <a:t>
</a:t>
                </a:r>
                <a:fld id="{395F87D4-60F5-4A44-8A07-5897CD88CB6A}" type="PERCENTAGE">
                  <a:rPr lang="ru-RU" baseline="0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[ПРОЦЕНТ]</a:t>
                </a:fld>
                <a:endParaRPr lang="ru-RU" baseline="0"/>
              </a:p>
            </c:rich>
          </c:tx>
          <c:spPr>
            <a:solidFill>
              <a:sysClr val="window" lastClr="FFFFFF"/>
            </a:solidFill>
            <a:ln>
              <a:solidFill>
                <a:srgbClr val="4BACC6"/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000" b="1" i="0" u="none" strike="noStrike" kern="1200" baseline="0">
                  <a:solidFill>
                    <a:schemeClr val="accent5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0.12127449693788277"/>
                  <c:h val="0.225359434237387"/>
                </c:manualLayout>
              </c15:layout>
              <c15:dlblFieldTable/>
              <c15:showDataLabelsRange val="0"/>
            </c:ext>
          </c:extLst>
        </c:dLbl>
      </c:pivotFmt>
      <c:pivotFmt>
        <c:idx val="20"/>
        <c:spPr>
          <a:solidFill>
            <a:schemeClr val="accent5">
              <a:tint val="77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c:spPr>
        <c:dLbl>
          <c:idx val="0"/>
          <c:layout>
            <c:manualLayout>
              <c:x val="-0.15"/>
              <c:y val="-2.314814814814814E-2"/>
            </c:manualLayout>
          </c:layout>
          <c:tx>
            <c:rich>
              <a:bodyPr rot="0" spcFirstLastPara="1" vertOverflow="clip" horzOverflow="clip" vert="horz" wrap="square" lIns="38100" tIns="19050" rIns="38100" bIns="19050" anchor="ctr" anchorCtr="1">
                <a:no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fld id="{B2C17619-F142-4DC5-AF01-F2A5B51550CB}" type="CATEGORYNAME">
                  <a:rPr lang="ru-RU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[ИМЯ КАТЕГОРИИ]</a:t>
                </a:fld>
                <a:r>
                  <a:rPr lang="ru-RU" baseline="0"/>
                  <a:t>
</a:t>
                </a:r>
                <a:fld id="{B14DBCE2-0EF2-4E04-8EA6-1DC508C58472}" type="PERCENTAGE">
                  <a:rPr lang="ru-RU" baseline="0">
                    <a:solidFill>
                      <a:schemeClr val="tx2">
                        <a:lumMod val="50000"/>
                      </a:schemeClr>
                    </a:solidFill>
                  </a:rPr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t>[ПРОЦЕНТ]</a:t>
                </a:fld>
                <a:endParaRPr lang="ru-RU" baseline="0"/>
              </a:p>
            </c:rich>
          </c:tx>
          <c:spPr>
            <a:solidFill>
              <a:sysClr val="window" lastClr="FFFFFF"/>
            </a:solidFill>
            <a:ln>
              <a:solidFill>
                <a:srgbClr val="4BACC6"/>
              </a:solidFill>
            </a:ln>
            <a:effectLst/>
          </c:spPr>
          <c:txPr>
            <a:bodyPr rot="0" spcFirstLastPara="1" vertOverflow="clip" horzOverflow="clip" vert="horz" wrap="square" lIns="38100" tIns="19050" rIns="38100" bIns="19050" anchor="ctr" anchorCtr="1">
              <a:noAutofit/>
            </a:bodyPr>
            <a:lstStyle/>
            <a:p>
              <a:pPr>
                <a:defRPr sz="1000" b="1" i="0" u="none" strike="noStrike" kern="1200" baseline="0">
                  <a:solidFill>
                    <a:schemeClr val="accent5"/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  <c:dLblPos val="bestFit"/>
          <c:showLegendKey val="0"/>
          <c:showVal val="0"/>
          <c:showCatName val="1"/>
          <c:showSerName val="0"/>
          <c:showPercent val="1"/>
          <c:showBubbleSize val="0"/>
          <c:extLst>
            <c:ext xmlns:c15="http://schemas.microsoft.com/office/drawing/2012/chart" uri="{CE6537A1-D6FC-4f65-9D91-7224C49458BB}">
              <c15:spPr xmlns:c15="http://schemas.microsoft.com/office/drawing/2012/chart">
                <a:prstGeom prst="wedgeRectCallout">
                  <a:avLst/>
                </a:prstGeom>
                <a:noFill/>
                <a:ln>
                  <a:noFill/>
                </a:ln>
              </c15:spPr>
              <c15:layout>
                <c:manualLayout>
                  <c:w val="9.905227471566054E-2"/>
                  <c:h val="0.19295202682997958"/>
                </c:manualLayout>
              </c15:layout>
              <c15:dlblFieldTable/>
              <c15:showDataLabelsRange val="0"/>
            </c:ext>
          </c:extLst>
        </c:dLbl>
      </c:pivotFmt>
    </c:pivotFmts>
    <c:plotArea>
      <c:layout/>
      <c:pieChart>
        <c:varyColors val="1"/>
        <c:ser>
          <c:idx val="0"/>
          <c:order val="0"/>
          <c:tx>
            <c:strRef>
              <c:f>'Программа лояльности'!$B$3</c:f>
              <c:strCache>
                <c:ptCount val="1"/>
                <c:pt idx="0">
                  <c:v>Итог</c:v>
                </c:pt>
              </c:strCache>
            </c:strRef>
          </c:tx>
          <c:dPt>
            <c:idx val="0"/>
            <c:bubble3D val="0"/>
            <c:spPr>
              <a:solidFill>
                <a:schemeClr val="accent5">
                  <a:shade val="76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211E-471E-8DBF-D433C016D3C8}"/>
              </c:ext>
            </c:extLst>
          </c:dPt>
          <c:dPt>
            <c:idx val="1"/>
            <c:bubble3D val="0"/>
            <c:spPr>
              <a:solidFill>
                <a:schemeClr val="accent5">
                  <a:tint val="77000"/>
                </a:schemeClr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211E-471E-8DBF-D433C016D3C8}"/>
              </c:ext>
            </c:extLst>
          </c:dPt>
          <c:dLbls>
            <c:dLbl>
              <c:idx val="0"/>
              <c:layout>
                <c:manualLayout>
                  <c:x val="8.8888888888888781E-2"/>
                  <c:y val="-1.1574074074074073E-2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000" b="1" i="0" u="none" strike="noStrike" kern="1200" baseline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B1338531-4C08-41B6-A63A-3ABCA42B15A5}" type="CATEGORYNAME">
                      <a:rPr lang="ru-RU">
                        <a:solidFill>
                          <a:schemeClr val="tx2">
                            <a:lumMod val="50000"/>
                          </a:schemeClr>
                        </a:solidFill>
                      </a:rPr>
                      <a:pPr>
                        <a:defRPr>
                          <a:solidFill>
                            <a:schemeClr val="accent5"/>
                          </a:solidFill>
                        </a:defRPr>
                      </a:pPr>
                      <a:t>[ИМЯ КАТЕГОРИИ]</a:t>
                    </a:fld>
                    <a:r>
                      <a:rPr lang="ru-RU" baseline="0"/>
                      <a:t>
</a:t>
                    </a:r>
                    <a:fld id="{395F87D4-60F5-4A44-8A07-5897CD88CB6A}" type="PERCENTAGE">
                      <a:rPr lang="ru-RU" baseline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pPr>
                        <a:defRPr>
                          <a:solidFill>
                            <a:schemeClr val="accent5"/>
                          </a:solidFill>
                        </a:defRPr>
                      </a:pPr>
                      <a:t>[ПРОЦЕНТ]</a:t>
                    </a:fld>
                    <a:endParaRPr lang="ru-RU" baseline="0"/>
                  </a:p>
                </c:rich>
              </c:tx>
              <c:spPr>
                <a:solidFill>
                  <a:sysClr val="window" lastClr="FFFFFF"/>
                </a:solidFill>
                <a:ln>
                  <a:solidFill>
                    <a:srgbClr val="4BACC6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0.12127449693788277"/>
                      <c:h val="0.225359434237387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11E-471E-8DBF-D433C016D3C8}"/>
                </c:ext>
              </c:extLst>
            </c:dLbl>
            <c:dLbl>
              <c:idx val="1"/>
              <c:layout>
                <c:manualLayout>
                  <c:x val="-0.15"/>
                  <c:y val="-2.314814814814814E-2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000" b="1" i="0" u="none" strike="noStrike" kern="1200" baseline="0">
                        <a:solidFill>
                          <a:schemeClr val="accent5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B2C17619-F142-4DC5-AF01-F2A5B51550CB}" type="CATEGORYNAME">
                      <a:rPr lang="ru-RU">
                        <a:solidFill>
                          <a:schemeClr val="tx2">
                            <a:lumMod val="50000"/>
                          </a:schemeClr>
                        </a:solidFill>
                      </a:rPr>
                      <a:pPr>
                        <a:defRPr>
                          <a:solidFill>
                            <a:schemeClr val="accent5"/>
                          </a:solidFill>
                        </a:defRPr>
                      </a:pPr>
                      <a:t>[ИМЯ КАТЕГОРИИ]</a:t>
                    </a:fld>
                    <a:r>
                      <a:rPr lang="ru-RU" baseline="0"/>
                      <a:t>
</a:t>
                    </a:r>
                    <a:fld id="{B14DBCE2-0EF2-4E04-8EA6-1DC508C58472}" type="PERCENTAGE">
                      <a:rPr lang="ru-RU" baseline="0">
                        <a:solidFill>
                          <a:schemeClr val="tx2">
                            <a:lumMod val="50000"/>
                          </a:schemeClr>
                        </a:solidFill>
                      </a:rPr>
                      <a:pPr>
                        <a:defRPr>
                          <a:solidFill>
                            <a:schemeClr val="accent5"/>
                          </a:solidFill>
                        </a:defRPr>
                      </a:pPr>
                      <a:t>[ПРОЦЕНТ]</a:t>
                    </a:fld>
                    <a:endParaRPr lang="ru-RU" baseline="0"/>
                  </a:p>
                </c:rich>
              </c:tx>
              <c:spPr>
                <a:solidFill>
                  <a:sysClr val="window" lastClr="FFFFFF"/>
                </a:solidFill>
                <a:ln>
                  <a:solidFill>
                    <a:srgbClr val="4BACC6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9.905227471566054E-2"/>
                      <c:h val="0.19295202682997958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211E-471E-8DBF-D433C016D3C8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4BACC6"/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'Программа лояльности'!$A$4:$A$6</c:f>
              <c:strCache>
                <c:ptCount val="2"/>
                <c:pt idx="0">
                  <c:v>да</c:v>
                </c:pt>
                <c:pt idx="1">
                  <c:v>нет</c:v>
                </c:pt>
              </c:strCache>
            </c:strRef>
          </c:cat>
          <c:val>
            <c:numRef>
              <c:f>'Программа лояльности'!$B$4:$B$6</c:f>
              <c:numCache>
                <c:formatCode>General</c:formatCode>
                <c:ptCount val="2"/>
                <c:pt idx="0">
                  <c:v>215</c:v>
                </c:pt>
                <c:pt idx="1">
                  <c:v>219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11E-471E-8DBF-D433C016D3C8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клиенты!$J$2:$J$435</cx:f>
        <cx:lvl ptCount="434" formatCode="0">
          <cx:pt idx="0">44.200000000000003</cx:pt>
          <cx:pt idx="1">44.100000000000001</cx:pt>
          <cx:pt idx="2">41.033333333333331</cx:pt>
          <cx:pt idx="3">47.666666666666664</cx:pt>
          <cx:pt idx="4">49.866666666666667</cx:pt>
          <cx:pt idx="5">49.700000000000003</cx:pt>
          <cx:pt idx="6">44.5</cx:pt>
          <cx:pt idx="7">48.466666666666669</cx:pt>
          <cx:pt idx="8">46.299999999999997</cx:pt>
          <cx:pt idx="9">45.799999999999997</cx:pt>
          <cx:pt idx="10">47.299999999999997</cx:pt>
          <cx:pt idx="11">47.233333333333334</cx:pt>
          <cx:pt idx="12">40.5</cx:pt>
          <cx:pt idx="13">42.633333333333333</cx:pt>
          <cx:pt idx="14">41.766666666666666</cx:pt>
          <cx:pt idx="15">46.5</cx:pt>
          <cx:pt idx="16">49</cx:pt>
          <cx:pt idx="17">39.333333333333336</cx:pt>
          <cx:pt idx="18">40.200000000000003</cx:pt>
          <cx:pt idx="19">43.899999999999999</cx:pt>
          <cx:pt idx="20">46.600000000000001</cx:pt>
          <cx:pt idx="21">44.833333333333336</cx:pt>
          <cx:pt idx="22">50.333333333333336</cx:pt>
          <cx:pt idx="23">47.333333333333336</cx:pt>
          <cx:pt idx="24">46.133333333333333</cx:pt>
          <cx:pt idx="25">42.966666666666669</cx:pt>
          <cx:pt idx="26">48.799999999999997</cx:pt>
          <cx:pt idx="27">47.366666666666667</cx:pt>
          <cx:pt idx="28">49.633333333333333</cx:pt>
          <cx:pt idx="29">46</cx:pt>
          <cx:pt idx="30">47.466666666666669</cx:pt>
          <cx:pt idx="31">40.533333333333331</cx:pt>
          <cx:pt idx="32">43.733333333333334</cx:pt>
          <cx:pt idx="33">42.200000000000003</cx:pt>
          <cx:pt idx="34">41.333333333333336</cx:pt>
          <cx:pt idx="35">45.533333333333331</cx:pt>
          <cx:pt idx="36">39.366666666666667</cx:pt>
          <cx:pt idx="37">43.533333333333331</cx:pt>
          <cx:pt idx="38">38.299999999999997</cx:pt>
          <cx:pt idx="39">38.766666666666666</cx:pt>
          <cx:pt idx="40">39.733333333333334</cx:pt>
          <cx:pt idx="41">46</cx:pt>
          <cx:pt idx="42">48.833333333333336</cx:pt>
          <cx:pt idx="43">47.333333333333336</cx:pt>
          <cx:pt idx="44">41.533333333333331</cx:pt>
          <cx:pt idx="45">39.100000000000001</cx:pt>
          <cx:pt idx="46">43.266666666666666</cx:pt>
          <cx:pt idx="47">43.56666666666667</cx:pt>
          <cx:pt idx="48">44</cx:pt>
          <cx:pt idx="49">48.399999999999999</cx:pt>
          <cx:pt idx="50">40.600000000000001</cx:pt>
          <cx:pt idx="51">47.299999999999997</cx:pt>
          <cx:pt idx="52">46.133333333333333</cx:pt>
          <cx:pt idx="53">42.600000000000001</cx:pt>
          <cx:pt idx="54">45.966666666666669</cx:pt>
          <cx:pt idx="55">40.766666666666666</cx:pt>
          <cx:pt idx="56">46.333333333333336</cx:pt>
          <cx:pt idx="57">48.366666666666667</cx:pt>
          <cx:pt idx="58">43.266666666666666</cx:pt>
          <cx:pt idx="59">40.966666666666669</cx:pt>
          <cx:pt idx="60">50.166666666666664</cx:pt>
          <cx:pt idx="61">45.43333333333333</cx:pt>
          <cx:pt idx="62">39.700000000000003</cx:pt>
          <cx:pt idx="63">47.899999999999999</cx:pt>
          <cx:pt idx="64">47.06666666666667</cx:pt>
          <cx:pt idx="65">41.366666666666667</cx:pt>
          <cx:pt idx="66">43</cx:pt>
          <cx:pt idx="67">45.43333333333333</cx:pt>
          <cx:pt idx="68">47.600000000000001</cx:pt>
          <cx:pt idx="69">43.43333333333333</cx:pt>
          <cx:pt idx="70">43.5</cx:pt>
          <cx:pt idx="71">49.700000000000003</cx:pt>
          <cx:pt idx="72">44.06666666666667</cx:pt>
          <cx:pt idx="73">47.666666666666664</cx:pt>
          <cx:pt idx="74">38.466666666666669</cx:pt>
          <cx:pt idx="75">41.93333333333333</cx:pt>
          <cx:pt idx="76">44</cx:pt>
          <cx:pt idx="77">46.100000000000001</cx:pt>
          <cx:pt idx="78">45.966666666666669</cx:pt>
          <cx:pt idx="79">40.333333333333336</cx:pt>
          <cx:pt idx="80">41.93333333333333</cx:pt>
          <cx:pt idx="81">50.333333333333336</cx:pt>
          <cx:pt idx="82">48.200000000000003</cx:pt>
          <cx:pt idx="83">41.06666666666667</cx:pt>
          <cx:pt idx="84">41.06666666666667</cx:pt>
          <cx:pt idx="85">43.466666666666669</cx:pt>
          <cx:pt idx="86">49.600000000000001</cx:pt>
          <cx:pt idx="87">42.56666666666667</cx:pt>
          <cx:pt idx="88">43.700000000000003</cx:pt>
          <cx:pt idx="89">39.233333333333334</cx:pt>
          <cx:pt idx="90">45.299999999999997</cx:pt>
          <cx:pt idx="91">49.633333333333333</cx:pt>
          <cx:pt idx="92">48.93333333333333</cx:pt>
          <cx:pt idx="93">42.299999999999997</cx:pt>
          <cx:pt idx="94">41.700000000000003</cx:pt>
          <cx:pt idx="95">50.100000000000001</cx:pt>
          <cx:pt idx="96">42.56666666666667</cx:pt>
          <cx:pt idx="97">47.799999999999997</cx:pt>
          <cx:pt idx="98">44.333333333333336</cx:pt>
          <cx:pt idx="99">48.399999999999999</cx:pt>
          <cx:pt idx="100">49.06666666666667</cx:pt>
          <cx:pt idx="101">40.533333333333331</cx:pt>
          <cx:pt idx="102">41.733333333333334</cx:pt>
          <cx:pt idx="103">49.133333333333333</cx:pt>
          <cx:pt idx="104">43.899999999999999</cx:pt>
          <cx:pt idx="105">46.100000000000001</cx:pt>
          <cx:pt idx="106">39.06666666666667</cx:pt>
          <cx:pt idx="107">40.06666666666667</cx:pt>
          <cx:pt idx="108">45.100000000000001</cx:pt>
          <cx:pt idx="109">45.333333333333336</cx:pt>
          <cx:pt idx="110">45.399999999999999</cx:pt>
          <cx:pt idx="111">39.700000000000003</cx:pt>
          <cx:pt idx="112">50.333333333333336</cx:pt>
          <cx:pt idx="113">39.466666666666669</cx:pt>
          <cx:pt idx="114">45.299999999999997</cx:pt>
          <cx:pt idx="115">50.100000000000001</cx:pt>
          <cx:pt idx="116">48.033333333333331</cx:pt>
          <cx:pt idx="117">50</cx:pt>
          <cx:pt idx="118">44.633333333333333</cx:pt>
          <cx:pt idx="119">38.56666666666667</cx:pt>
          <cx:pt idx="120">39.466666666666669</cx:pt>
          <cx:pt idx="121">49.733333333333334</cx:pt>
          <cx:pt idx="122">49.899999999999999</cx:pt>
          <cx:pt idx="123">48.466666666666669</cx:pt>
          <cx:pt idx="124">40.43333333333333</cx:pt>
          <cx:pt idx="125">43.466666666666669</cx:pt>
          <cx:pt idx="126">39.666666666666664</cx:pt>
          <cx:pt idx="127">40.200000000000003</cx:pt>
          <cx:pt idx="128">41.533333333333331</cx:pt>
          <cx:pt idx="129">40.133333333333333</cx:pt>
          <cx:pt idx="130">43.700000000000003</cx:pt>
          <cx:pt idx="131">46.93333333333333</cx:pt>
          <cx:pt idx="132">47.5</cx:pt>
          <cx:pt idx="133">45.200000000000003</cx:pt>
          <cx:pt idx="134">46.666666666666664</cx:pt>
          <cx:pt idx="135">39.93333333333333</cx:pt>
          <cx:pt idx="136">40.56666666666667</cx:pt>
          <cx:pt idx="137">42.366666666666667</cx:pt>
          <cx:pt idx="138">50.333333333333336</cx:pt>
          <cx:pt idx="139">38.366666666666667</cx:pt>
          <cx:pt idx="140">46.700000000000003</cx:pt>
          <cx:pt idx="141">45.833333333333336</cx:pt>
          <cx:pt idx="142">43.56666666666667</cx:pt>
          <cx:pt idx="143">44.833333333333336</cx:pt>
          <cx:pt idx="144">41.533333333333331</cx:pt>
          <cx:pt idx="145">44.766666666666666</cx:pt>
          <cx:pt idx="146">44.533333333333331</cx:pt>
          <cx:pt idx="147">38.533333333333331</cx:pt>
          <cx:pt idx="148">39.43333333333333</cx:pt>
          <cx:pt idx="149">47.899999999999999</cx:pt>
          <cx:pt idx="150">41.399999999999999</cx:pt>
          <cx:pt idx="151">43.399999999999999</cx:pt>
          <cx:pt idx="152">45.733333333333334</cx:pt>
          <cx:pt idx="153">45.666666666666664</cx:pt>
          <cx:pt idx="154">40.533333333333331</cx:pt>
          <cx:pt idx="155">48.56666666666667</cx:pt>
          <cx:pt idx="156">46.233333333333334</cx:pt>
          <cx:pt idx="157">40.5</cx:pt>
          <cx:pt idx="158">48.333333333333336</cx:pt>
          <cx:pt idx="159">49.266666666666666</cx:pt>
          <cx:pt idx="160">42.666666666666664</cx:pt>
          <cx:pt idx="161">46.333333333333336</cx:pt>
          <cx:pt idx="162">50.266666666666666</cx:pt>
          <cx:pt idx="163">48.866666666666667</cx:pt>
          <cx:pt idx="164">43.43333333333333</cx:pt>
          <cx:pt idx="165">46.666666666666664</cx:pt>
          <cx:pt idx="166">45.533333333333331</cx:pt>
          <cx:pt idx="167">39.93333333333333</cx:pt>
          <cx:pt idx="168">42.06666666666667</cx:pt>
          <cx:pt idx="169">47.333333333333336</cx:pt>
          <cx:pt idx="170">38.633333333333333</cx:pt>
          <cx:pt idx="171">43.43333333333333</cx:pt>
          <cx:pt idx="172">42.633333333333333</cx:pt>
          <cx:pt idx="173">42.866666666666667</cx:pt>
          <cx:pt idx="174">39.56666666666667</cx:pt>
          <cx:pt idx="175">46.733333333333334</cx:pt>
          <cx:pt idx="176">49.5</cx:pt>
          <cx:pt idx="177">47.93333333333333</cx:pt>
          <cx:pt idx="178">38.93333333333333</cx:pt>
          <cx:pt idx="179">50.266666666666666</cx:pt>
          <cx:pt idx="180">47.399999999999999</cx:pt>
          <cx:pt idx="181">40.533333333333331</cx:pt>
          <cx:pt idx="182">50.166666666666664</cx:pt>
          <cx:pt idx="183">44.899999999999999</cx:pt>
          <cx:pt idx="184">48.266666666666666</cx:pt>
          <cx:pt idx="185">48.333333333333336</cx:pt>
          <cx:pt idx="186">41.533333333333331</cx:pt>
          <cx:pt idx="187">39.56666666666667</cx:pt>
          <cx:pt idx="188">41.033333333333331</cx:pt>
          <cx:pt idx="189">39.899999999999999</cx:pt>
          <cx:pt idx="190">43.06666666666667</cx:pt>
          <cx:pt idx="191">45.56666666666667</cx:pt>
          <cx:pt idx="192">43.666666666666664</cx:pt>
          <cx:pt idx="193">42.5</cx:pt>
          <cx:pt idx="194">44.766666666666666</cx:pt>
          <cx:pt idx="195">49.533333333333331</cx:pt>
          <cx:pt idx="196">40.600000000000001</cx:pt>
          <cx:pt idx="197">44.299999999999997</cx:pt>
          <cx:pt idx="198">48.93333333333333</cx:pt>
          <cx:pt idx="199">39.100000000000001</cx:pt>
          <cx:pt idx="200">48.5</cx:pt>
          <cx:pt idx="201">49.766666666666666</cx:pt>
          <cx:pt idx="202">47.266666666666666</cx:pt>
          <cx:pt idx="203">47.633333333333333</cx:pt>
          <cx:pt idx="204">50.033333333333331</cx:pt>
          <cx:pt idx="205">50.366666666666667</cx:pt>
          <cx:pt idx="206">41.766666666666666</cx:pt>
          <cx:pt idx="207">50.166666666666664</cx:pt>
          <cx:pt idx="208">46.266666666666666</cx:pt>
          <cx:pt idx="209">39.733333333333334</cx:pt>
          <cx:pt idx="210">40.466666666666669</cx:pt>
          <cx:pt idx="211">44.966666666666669</cx:pt>
          <cx:pt idx="212">40.133333333333333</cx:pt>
          <cx:pt idx="213">48.43333333333333</cx:pt>
          <cx:pt idx="214">46.033333333333331</cx:pt>
          <cx:pt idx="215">46.633333333333333</cx:pt>
          <cx:pt idx="216">43.200000000000003</cx:pt>
          <cx:pt idx="217">44.966666666666669</cx:pt>
          <cx:pt idx="218">47.93333333333333</cx:pt>
          <cx:pt idx="219">46.06666666666667</cx:pt>
          <cx:pt idx="220">48.833333333333336</cx:pt>
          <cx:pt idx="221">49.600000000000001</cx:pt>
          <cx:pt idx="222">47.866666666666667</cx:pt>
          <cx:pt idx="223">45.700000000000003</cx:pt>
          <cx:pt idx="224">43.833333333333336</cx:pt>
          <cx:pt idx="225">45.633333333333333</cx:pt>
          <cx:pt idx="226">46.899999999999999</cx:pt>
          <cx:pt idx="227">41.56666666666667</cx:pt>
          <cx:pt idx="228">40.233333333333334</cx:pt>
          <cx:pt idx="229">48.166666666666664</cx:pt>
          <cx:pt idx="230">46.733333333333334</cx:pt>
          <cx:pt idx="231">45.56666666666667</cx:pt>
          <cx:pt idx="232">40.833333333333336</cx:pt>
          <cx:pt idx="233">44.033333333333331</cx:pt>
          <cx:pt idx="234">43.899999999999999</cx:pt>
          <cx:pt idx="235">46.600000000000001</cx:pt>
          <cx:pt idx="236">48.06666666666667</cx:pt>
          <cx:pt idx="237">44.100000000000001</cx:pt>
          <cx:pt idx="238">43.366666666666667</cx:pt>
          <cx:pt idx="239">44.700000000000003</cx:pt>
          <cx:pt idx="240">46.5</cx:pt>
          <cx:pt idx="241">47.166666666666664</cx:pt>
          <cx:pt idx="242">43.200000000000003</cx:pt>
          <cx:pt idx="243">40.833333333333336</cx:pt>
          <cx:pt idx="244">43.633333333333333</cx:pt>
          <cx:pt idx="245">45.600000000000001</cx:pt>
          <cx:pt idx="246">49.93333333333333</cx:pt>
          <cx:pt idx="247">42.266666666666666</cx:pt>
          <cx:pt idx="248">41.600000000000001</cx:pt>
          <cx:pt idx="249">43</cx:pt>
          <cx:pt idx="250">46.799999999999997</cx:pt>
          <cx:pt idx="251">42.666666666666664</cx:pt>
          <cx:pt idx="252">39.266666666666666</cx:pt>
          <cx:pt idx="253">47.033333333333331</cx:pt>
          <cx:pt idx="254">39.733333333333334</cx:pt>
          <cx:pt idx="255">43.133333333333333</cx:pt>
          <cx:pt idx="256">38.899999999999999</cx:pt>
          <cx:pt idx="257">41.799999999999997</cx:pt>
          <cx:pt idx="258">49.833333333333336</cx:pt>
          <cx:pt idx="259">48.100000000000001</cx:pt>
          <cx:pt idx="260">40.166666666666664</cx:pt>
          <cx:pt idx="261">39.033333333333331</cx:pt>
          <cx:pt idx="262">39.56666666666667</cx:pt>
          <cx:pt idx="263">38.366666666666667</cx:pt>
          <cx:pt idx="264">46.866666666666667</cx:pt>
          <cx:pt idx="265">38.43333333333333</cx:pt>
          <cx:pt idx="266">42.266666666666666</cx:pt>
          <cx:pt idx="267">38.5</cx:pt>
          <cx:pt idx="268">38.666666666666664</cx:pt>
          <cx:pt idx="269">42.733333333333334</cx:pt>
          <cx:pt idx="270">41.733333333333334</cx:pt>
          <cx:pt idx="271">46.333333333333336</cx:pt>
          <cx:pt idx="272">39.133333333333333</cx:pt>
          <cx:pt idx="273">45.666666666666664</cx:pt>
          <cx:pt idx="274">46.633333333333333</cx:pt>
          <cx:pt idx="275">48.56666666666667</cx:pt>
          <cx:pt idx="276">49.533333333333331</cx:pt>
          <cx:pt idx="277">40.366666666666667</cx:pt>
          <cx:pt idx="278">49.600000000000001</cx:pt>
          <cx:pt idx="279">38.333333333333336</cx:pt>
          <cx:pt idx="280">43.366666666666667</cx:pt>
          <cx:pt idx="281">45.166666666666664</cx:pt>
          <cx:pt idx="282">41.766666666666666</cx:pt>
          <cx:pt idx="283">45.766666666666666</cx:pt>
          <cx:pt idx="284">48.166666666666664</cx:pt>
          <cx:pt idx="285">48.700000000000003</cx:pt>
          <cx:pt idx="286">44.866666666666667</cx:pt>
          <cx:pt idx="287">42.600000000000001</cx:pt>
          <cx:pt idx="288">45.733333333333334</cx:pt>
          <cx:pt idx="289">45.399999999999999</cx:pt>
          <cx:pt idx="290">42.866666666666667</cx:pt>
          <cx:pt idx="291">49.766666666666666</cx:pt>
          <cx:pt idx="292">40.033333333333331</cx:pt>
          <cx:pt idx="293">39.899999999999999</cx:pt>
          <cx:pt idx="294">40.200000000000003</cx:pt>
          <cx:pt idx="295">45</cx:pt>
          <cx:pt idx="296">44.033333333333331</cx:pt>
          <cx:pt idx="297">41.56666666666667</cx:pt>
          <cx:pt idx="298">45</cx:pt>
          <cx:pt idx="299">43.033333333333331</cx:pt>
          <cx:pt idx="300">38.700000000000003</cx:pt>
          <cx:pt idx="301">47.266666666666666</cx:pt>
          <cx:pt idx="302">44.366666666666667</cx:pt>
          <cx:pt idx="303">45.56666666666667</cx:pt>
          <cx:pt idx="304">48.466666666666669</cx:pt>
          <cx:pt idx="305">44.333333333333336</cx:pt>
          <cx:pt idx="306">40.56666666666667</cx:pt>
          <cx:pt idx="307">41.533333333333331</cx:pt>
          <cx:pt idx="308">38.333333333333336</cx:pt>
          <cx:pt idx="309">40.833333333333336</cx:pt>
          <cx:pt idx="310">46</cx:pt>
          <cx:pt idx="311">46.733333333333334</cx:pt>
          <cx:pt idx="312">42.466666666666669</cx:pt>
          <cx:pt idx="313">45.399999999999999</cx:pt>
          <cx:pt idx="314">44.899999999999999</cx:pt>
          <cx:pt idx="315">48.333333333333336</cx:pt>
          <cx:pt idx="316">39.866666666666667</cx:pt>
          <cx:pt idx="317">38.633333333333333</cx:pt>
          <cx:pt idx="318">40.200000000000003</cx:pt>
          <cx:pt idx="319">50.100000000000001</cx:pt>
          <cx:pt idx="320">50.166666666666664</cx:pt>
          <cx:pt idx="321">49.033333333333331</cx:pt>
          <cx:pt idx="322">44.733333333333334</cx:pt>
          <cx:pt idx="323">45.733333333333334</cx:pt>
          <cx:pt idx="324">44.666666666666664</cx:pt>
          <cx:pt idx="325">40.56666666666667</cx:pt>
          <cx:pt idx="326">39.799999999999997</cx:pt>
          <cx:pt idx="327">49.56666666666667</cx:pt>
          <cx:pt idx="328">49.333333333333336</cx:pt>
          <cx:pt idx="329">49.06666666666667</cx:pt>
          <cx:pt idx="330">49.033333333333331</cx:pt>
          <cx:pt idx="331">42.899999999999999</cx:pt>
          <cx:pt idx="332">39.366666666666667</cx:pt>
          <cx:pt idx="333">46.166666666666664</cx:pt>
          <cx:pt idx="334">49.5</cx:pt>
          <cx:pt idx="335">41.633333333333333</cx:pt>
          <cx:pt idx="336">40.866666666666667</cx:pt>
          <cx:pt idx="337">39.233333333333334</cx:pt>
          <cx:pt idx="338">46.833333333333336</cx:pt>
          <cx:pt idx="339">49.133333333333333</cx:pt>
          <cx:pt idx="340">49.06666666666667</cx:pt>
          <cx:pt idx="341">40.133333333333333</cx:pt>
          <cx:pt idx="342">50.133333333333333</cx:pt>
          <cx:pt idx="343">40.333333333333336</cx:pt>
          <cx:pt idx="344">40.600000000000001</cx:pt>
          <cx:pt idx="345">45.93333333333333</cx:pt>
          <cx:pt idx="346">43.366666666666667</cx:pt>
          <cx:pt idx="347">46.333333333333336</cx:pt>
          <cx:pt idx="348">45.266666666666666</cx:pt>
          <cx:pt idx="349">39.166666666666664</cx:pt>
          <cx:pt idx="350">50.06666666666667</cx:pt>
          <cx:pt idx="351">40.133333333333333</cx:pt>
          <cx:pt idx="352">46.666666666666664</cx:pt>
          <cx:pt idx="353">45</cx:pt>
          <cx:pt idx="354">40.56666666666667</cx:pt>
          <cx:pt idx="355">49.733333333333334</cx:pt>
          <cx:pt idx="356">41</cx:pt>
          <cx:pt idx="357">45.06666666666667</cx:pt>
          <cx:pt idx="358">39.56666666666667</cx:pt>
          <cx:pt idx="359">49.299999999999997</cx:pt>
          <cx:pt idx="360">41.733333333333334</cx:pt>
          <cx:pt idx="361">49.899999999999999</cx:pt>
          <cx:pt idx="362">42.93333333333333</cx:pt>
          <cx:pt idx="363">46.399999999999999</cx:pt>
          <cx:pt idx="364">47.033333333333331</cx:pt>
          <cx:pt idx="365">44.200000000000003</cx:pt>
          <cx:pt idx="366">45.233333333333334</cx:pt>
          <cx:pt idx="367">49.399999999999999</cx:pt>
          <cx:pt idx="368">45.600000000000001</cx:pt>
          <cx:pt idx="369">44.766666666666666</cx:pt>
          <cx:pt idx="370">39.333333333333336</cx:pt>
          <cx:pt idx="371">44.5</cx:pt>
          <cx:pt idx="372">44.466666666666669</cx:pt>
          <cx:pt idx="373">50</cx:pt>
          <cx:pt idx="374">39.666666666666664</cx:pt>
          <cx:pt idx="375">45.43333333333333</cx:pt>
          <cx:pt idx="376">45.766666666666666</cx:pt>
          <cx:pt idx="377">46.100000000000001</cx:pt>
          <cx:pt idx="378">49.100000000000001</cx:pt>
          <cx:pt idx="379">44.233333333333334</cx:pt>
          <cx:pt idx="380">45.06666666666667</cx:pt>
          <cx:pt idx="381">42</cx:pt>
          <cx:pt idx="382">41.266666666666666</cx:pt>
          <cx:pt idx="383">45.766666666666666</cx:pt>
          <cx:pt idx="384">40.100000000000001</cx:pt>
          <cx:pt idx="385">44.833333333333336</cx:pt>
          <cx:pt idx="386">42.399999999999999</cx:pt>
          <cx:pt idx="387">46.299999999999997</cx:pt>
          <cx:pt idx="388">38.799999999999997</cx:pt>
          <cx:pt idx="389">38.5</cx:pt>
          <cx:pt idx="390">44.799999999999997</cx:pt>
          <cx:pt idx="391">45.5</cx:pt>
          <cx:pt idx="392">45.966666666666669</cx:pt>
          <cx:pt idx="393">46.899999999999999</cx:pt>
          <cx:pt idx="394">48.5</cx:pt>
          <cx:pt idx="395">43.166666666666664</cx:pt>
          <cx:pt idx="396">38.866666666666667</cx:pt>
          <cx:pt idx="397">39.56666666666667</cx:pt>
          <cx:pt idx="398">38.666666666666664</cx:pt>
          <cx:pt idx="399">48.533333333333331</cx:pt>
          <cx:pt idx="400">49.866666666666667</cx:pt>
          <cx:pt idx="401">46.56666666666667</cx:pt>
          <cx:pt idx="402">44.56666666666667</cx:pt>
          <cx:pt idx="403">39.966666666666669</cx:pt>
          <cx:pt idx="404">45</cx:pt>
          <cx:pt idx="405">46.899999999999999</cx:pt>
          <cx:pt idx="406">40.033333333333331</cx:pt>
          <cx:pt idx="407">41.266666666666666</cx:pt>
          <cx:pt idx="408">47.466666666666669</cx:pt>
          <cx:pt idx="409">46.200000000000003</cx:pt>
          <cx:pt idx="410">42.466666666666669</cx:pt>
          <cx:pt idx="411">46.466666666666669</cx:pt>
          <cx:pt idx="412">40.56666666666667</cx:pt>
          <cx:pt idx="413">41.799999999999997</cx:pt>
          <cx:pt idx="414">48.833333333333336</cx:pt>
          <cx:pt idx="415">44.033333333333331</cx:pt>
          <cx:pt idx="416">46.166666666666664</cx:pt>
          <cx:pt idx="417">50.299999999999997</cx:pt>
          <cx:pt idx="418">42.466666666666669</cx:pt>
          <cx:pt idx="419">44.5</cx:pt>
          <cx:pt idx="420">45.43333333333333</cx:pt>
          <cx:pt idx="421">43.600000000000001</cx:pt>
          <cx:pt idx="422">44.600000000000001</cx:pt>
          <cx:pt idx="423">41.366666666666667</cx:pt>
          <cx:pt idx="424">41.93333333333333</cx:pt>
          <cx:pt idx="425">42.5</cx:pt>
          <cx:pt idx="426">49.5</cx:pt>
          <cx:pt idx="427">47.133333333333333</cx:pt>
          <cx:pt idx="428">38.93333333333333</cx:pt>
          <cx:pt idx="429">43</cx:pt>
          <cx:pt idx="430">45.633333333333333</cx:pt>
          <cx:pt idx="431">46.06666666666667</cx:pt>
          <cx:pt idx="432">45</cx:pt>
          <cx:pt idx="433">41.299999999999997</cx:pt>
        </cx:lvl>
      </cx:numDim>
    </cx:data>
  </cx:chartData>
  <cx:chart>
    <cx:title pos="t" align="ctr" overlay="0">
      <cx:tx>
        <cx:txData>
          <cx:v>Лайфтайм клиента по месяцам</cx:v>
        </cx:txData>
      </cx:tx>
      <cx:txPr>
        <a:bodyPr vertOverflow="overflow" horzOverflow="overflow" wrap="square" lIns="0" tIns="0" rIns="0" bIns="0"/>
        <a:lstStyle/>
        <a:p>
          <a:pPr algn="ctr" rtl="0">
            <a:defRPr sz="2000" b="1" i="1">
              <a:solidFill>
                <a:srgbClr val="0F243E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defRPr>
          </a:pPr>
          <a:r>
            <a:rPr sz="2000" b="1" i="1">
              <a:solidFill>
                <a:srgbClr val="0F243E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Лайфтайм клиента по месяцам</a:t>
          </a:r>
        </a:p>
      </cx:txPr>
    </cx:title>
    <cx:plotArea>
      <cx:plotAreaRegion>
        <cx:series layoutId="clusteredColumn" uniqueId="{00000000-A140-465A-B78D-7EEAF44AECB9}">
          <cx:spPr>
            <a:solidFill>
              <a:srgbClr val="92CDDC"/>
            </a:solidFill>
          </cx:spPr>
          <cx:dataId val="0"/>
          <cx:layoutPr>
            <cx:binning intervalClosed="r">
              <cx:binSize val="3"/>
            </cx:binning>
          </cx:layoutPr>
        </cx:series>
      </cx:plotAreaRegion>
      <cx:axis id="0">
        <cx:catScaling gapWidth="0"/>
        <cx:title>
          <cx:tx>
            <cx:txData>
              <cx:v>Количество месяцев</cx:v>
            </cx:txData>
          </cx:tx>
          <cx:txPr>
            <a:bodyPr vertOverflow="overflow" horzOverflow="overflow" wrap="square" lIns="0" tIns="0" rIns="0" bIns="0"/>
            <a:lstStyle/>
            <a:p>
              <a:pPr algn="ctr" rtl="0">
                <a:defRPr sz="900" b="0" i="1">
                  <a:solidFill>
                    <a:srgbClr val="0F243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r>
                <a:rPr i="1">
                  <a:solidFill>
                    <a:srgbClr val="0F243E"/>
                  </a:solidFill>
                </a:rPr>
                <a:t>Количество месяцев</a:t>
              </a:r>
            </a:p>
          </cx:txPr>
        </cx:title>
        <cx:tickLabels/>
        <cx:txPr>
          <a:bodyPr vertOverflow="overflow" horzOverflow="overflow" wrap="square" lIns="0" tIns="0" rIns="0" bIns="0"/>
          <a:lstStyle/>
          <a:p>
            <a:pPr algn="ctr" rtl="0">
              <a:defRPr sz="1200" b="1" i="1">
                <a:solidFill>
                  <a:srgbClr val="0F24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 b="1" i="1">
              <a:solidFill>
                <a:srgbClr val="0F243E"/>
              </a:solidFill>
            </a:endParaRPr>
          </a:p>
        </cx:txPr>
      </cx:axis>
      <cx:axis id="1">
        <cx:valScaling/>
        <cx:title>
          <cx:tx>
            <cx:txData>
              <cx:v>Количество клиентов</cx:v>
            </cx:txData>
          </cx:tx>
          <cx:txPr>
            <a:bodyPr vertOverflow="overflow" horzOverflow="overflow" wrap="square" lIns="0" tIns="0" rIns="0" bIns="0"/>
            <a:lstStyle/>
            <a:p>
              <a:pPr algn="ctr" rtl="0">
                <a:defRPr sz="900" b="0" i="1">
                  <a:solidFill>
                    <a:srgbClr val="0F243E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defRPr>
              </a:pPr>
              <a:r>
                <a:rPr b="0" i="1">
                  <a:solidFill>
                    <a:srgbClr val="0F243E"/>
                  </a:solidFill>
                </a:rPr>
                <a:t>Количество клиентов</a:t>
              </a:r>
            </a:p>
          </cx:txPr>
        </cx:title>
        <cx:majorGridlines/>
        <cx:tickLabels/>
        <cx:txPr>
          <a:bodyPr vertOverflow="overflow" horzOverflow="overflow" wrap="square" lIns="0" tIns="0" rIns="0" bIns="0"/>
          <a:lstStyle/>
          <a:p>
            <a:pPr algn="ctr" rtl="0">
              <a:defRPr sz="1200" b="0" i="0">
                <a:solidFill>
                  <a:srgbClr val="0F243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pPr>
            <a:endParaRPr>
              <a:solidFill>
                <a:srgbClr val="0F243E"/>
              </a:solidFill>
            </a:endParaRPr>
          </a:p>
        </cx:txPr>
      </cx:axis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продажи!$P$2:$P$1001</cx:f>
        <cx:lvl ptCount="1000" formatCode="Основной">
          <cx:pt idx="0">440</cx:pt>
          <cx:pt idx="1">333</cx:pt>
          <cx:pt idx="2">521</cx:pt>
          <cx:pt idx="3">619</cx:pt>
          <cx:pt idx="4">574</cx:pt>
          <cx:pt idx="5">699</cx:pt>
          <cx:pt idx="6">611</cx:pt>
          <cx:pt idx="7">708</cx:pt>
          <cx:pt idx="8">692</cx:pt>
          <cx:pt idx="9">333</cx:pt>
          <cx:pt idx="10">482</cx:pt>
          <cx:pt idx="11">738</cx:pt>
          <cx:pt idx="12">408</cx:pt>
          <cx:pt idx="13">339</cx:pt>
          <cx:pt idx="14">152</cx:pt>
          <cx:pt idx="15">302</cx:pt>
          <cx:pt idx="16">613</cx:pt>
          <cx:pt idx="17">223</cx:pt>
          <cx:pt idx="18">191</cx:pt>
          <cx:pt idx="19">402</cx:pt>
          <cx:pt idx="20">569</cx:pt>
          <cx:pt idx="21">395</cx:pt>
          <cx:pt idx="22">464</cx:pt>
          <cx:pt idx="23">313</cx:pt>
          <cx:pt idx="24">637</cx:pt>
          <cx:pt idx="25">390</cx:pt>
          <cx:pt idx="26">490</cx:pt>
          <cx:pt idx="27">716</cx:pt>
          <cx:pt idx="28">456</cx:pt>
          <cx:pt idx="29">721</cx:pt>
          <cx:pt idx="30">476</cx:pt>
          <cx:pt idx="31">495</cx:pt>
          <cx:pt idx="32">236</cx:pt>
          <cx:pt idx="33">460</cx:pt>
          <cx:pt idx="34">548</cx:pt>
          <cx:pt idx="35">264</cx:pt>
          <cx:pt idx="36">55</cx:pt>
          <cx:pt idx="37">362</cx:pt>
          <cx:pt idx="38">482</cx:pt>
          <cx:pt idx="39">207</cx:pt>
          <cx:pt idx="40">313</cx:pt>
          <cx:pt idx="41">503</cx:pt>
          <cx:pt idx="42">496</cx:pt>
          <cx:pt idx="43">581</cx:pt>
          <cx:pt idx="44">560</cx:pt>
          <cx:pt idx="45">269</cx:pt>
          <cx:pt idx="46">163</cx:pt>
          <cx:pt idx="47">433</cx:pt>
          <cx:pt idx="48">237</cx:pt>
          <cx:pt idx="49">632</cx:pt>
          <cx:pt idx="50">486</cx:pt>
          <cx:pt idx="51">459</cx:pt>
          <cx:pt idx="52">453</cx:pt>
          <cx:pt idx="53">592</cx:pt>
          <cx:pt idx="54">667</cx:pt>
          <cx:pt idx="55">439</cx:pt>
          <cx:pt idx="56">706</cx:pt>
          <cx:pt idx="57">364</cx:pt>
          <cx:pt idx="58">740</cx:pt>
          <cx:pt idx="59">154</cx:pt>
          <cx:pt idx="60">623</cx:pt>
          <cx:pt idx="61">159</cx:pt>
          <cx:pt idx="62">423</cx:pt>
          <cx:pt idx="63">712</cx:pt>
          <cx:pt idx="64">404</cx:pt>
          <cx:pt idx="65">91</cx:pt>
          <cx:pt idx="66">353</cx:pt>
          <cx:pt idx="67">626</cx:pt>
          <cx:pt idx="68">143</cx:pt>
          <cx:pt idx="69">263</cx:pt>
          <cx:pt idx="70">290</cx:pt>
          <cx:pt idx="71">661</cx:pt>
          <cx:pt idx="72">101</cx:pt>
          <cx:pt idx="73">590</cx:pt>
          <cx:pt idx="74">162</cx:pt>
          <cx:pt idx="75">734</cx:pt>
          <cx:pt idx="76">358</cx:pt>
          <cx:pt idx="77">659</cx:pt>
          <cx:pt idx="78">245</cx:pt>
          <cx:pt idx="79">131</cx:pt>
          <cx:pt idx="80">468</cx:pt>
          <cx:pt idx="81">420</cx:pt>
          <cx:pt idx="82">396</cx:pt>
          <cx:pt idx="83">303</cx:pt>
          <cx:pt idx="84">578</cx:pt>
          <cx:pt idx="85">76</cx:pt>
          <cx:pt idx="86">374</cx:pt>
          <cx:pt idx="87">516</cx:pt>
          <cx:pt idx="88">300</cx:pt>
          <cx:pt idx="89">385</cx:pt>
          <cx:pt idx="90">547</cx:pt>
          <cx:pt idx="91">655</cx:pt>
          <cx:pt idx="92">598</cx:pt>
          <cx:pt idx="93">422</cx:pt>
          <cx:pt idx="94">537</cx:pt>
          <cx:pt idx="95">473</cx:pt>
          <cx:pt idx="96">301</cx:pt>
          <cx:pt idx="97">175</cx:pt>
          <cx:pt idx="98">363</cx:pt>
          <cx:pt idx="99">747</cx:pt>
          <cx:pt idx="100">605</cx:pt>
          <cx:pt idx="101">278</cx:pt>
          <cx:pt idx="102">352</cx:pt>
          <cx:pt idx="103">601</cx:pt>
          <cx:pt idx="104">463</cx:pt>
          <cx:pt idx="105">648</cx:pt>
          <cx:pt idx="106">352</cx:pt>
          <cx:pt idx="107">412</cx:pt>
          <cx:pt idx="108">684</cx:pt>
          <cx:pt idx="109">193</cx:pt>
          <cx:pt idx="110">182</cx:pt>
          <cx:pt idx="111">393</cx:pt>
          <cx:pt idx="112">678</cx:pt>
          <cx:pt idx="113">420</cx:pt>
          <cx:pt idx="114">258</cx:pt>
          <cx:pt idx="115">58</cx:pt>
          <cx:pt idx="116">370</cx:pt>
          <cx:pt idx="117">618</cx:pt>
          <cx:pt idx="118">630</cx:pt>
          <cx:pt idx="119">533</cx:pt>
          <cx:pt idx="120">78</cx:pt>
          <cx:pt idx="121">671</cx:pt>
          <cx:pt idx="122">494</cx:pt>
          <cx:pt idx="123">750</cx:pt>
          <cx:pt idx="124">671</cx:pt>
          <cx:pt idx="125">136</cx:pt>
          <cx:pt idx="126">665</cx:pt>
          <cx:pt idx="127">606</cx:pt>
          <cx:pt idx="128">628</cx:pt>
          <cx:pt idx="129">436</cx:pt>
          <cx:pt idx="130">295</cx:pt>
          <cx:pt idx="131">468</cx:pt>
          <cx:pt idx="132">111</cx:pt>
          <cx:pt idx="133">733</cx:pt>
          <cx:pt idx="134">858</cx:pt>
          <cx:pt idx="135">419</cx:pt>
          <cx:pt idx="136">210</cx:pt>
          <cx:pt idx="137">263</cx:pt>
          <cx:pt idx="138">306</cx:pt>
          <cx:pt idx="139">243</cx:pt>
          <cx:pt idx="140">545</cx:pt>
          <cx:pt idx="141">499</cx:pt>
          <cx:pt idx="142">594</cx:pt>
          <cx:pt idx="143">773</cx:pt>
          <cx:pt idx="144">371</cx:pt>
          <cx:pt idx="145">499</cx:pt>
          <cx:pt idx="146">288</cx:pt>
          <cx:pt idx="147">661</cx:pt>
          <cx:pt idx="148">616</cx:pt>
          <cx:pt idx="149">766</cx:pt>
          <cx:pt idx="150">478</cx:pt>
          <cx:pt idx="151">273</cx:pt>
          <cx:pt idx="152">317</cx:pt>
          <cx:pt idx="153">415</cx:pt>
          <cx:pt idx="154">553</cx:pt>
          <cx:pt idx="155">585</cx:pt>
          <cx:pt idx="156">250</cx:pt>
          <cx:pt idx="157">245</cx:pt>
          <cx:pt idx="158">249</cx:pt>
          <cx:pt idx="159">518</cx:pt>
          <cx:pt idx="160">237</cx:pt>
          <cx:pt idx="161">69</cx:pt>
          <cx:pt idx="162">611</cx:pt>
          <cx:pt idx="163">459</cx:pt>
          <cx:pt idx="164">504</cx:pt>
          <cx:pt idx="165">339</cx:pt>
          <cx:pt idx="166">392</cx:pt>
          <cx:pt idx="167">221</cx:pt>
          <cx:pt idx="168">272</cx:pt>
          <cx:pt idx="169">682</cx:pt>
          <cx:pt idx="170">304</cx:pt>
          <cx:pt idx="171">424</cx:pt>
          <cx:pt idx="172">399</cx:pt>
          <cx:pt idx="173">539</cx:pt>
          <cx:pt idx="174">538</cx:pt>
          <cx:pt idx="175">582</cx:pt>
          <cx:pt idx="176">712</cx:pt>
          <cx:pt idx="177">472</cx:pt>
          <cx:pt idx="178">363</cx:pt>
          <cx:pt idx="179">432</cx:pt>
          <cx:pt idx="180">355</cx:pt>
          <cx:pt idx="181">628</cx:pt>
          <cx:pt idx="182">358</cx:pt>
          <cx:pt idx="183">500</cx:pt>
          <cx:pt idx="184">639</cx:pt>
          <cx:pt idx="185">461</cx:pt>
          <cx:pt idx="186">546</cx:pt>
          <cx:pt idx="187">553</cx:pt>
          <cx:pt idx="188">377</cx:pt>
          <cx:pt idx="189">673</cx:pt>
          <cx:pt idx="190">489</cx:pt>
          <cx:pt idx="191">176</cx:pt>
          <cx:pt idx="192">493</cx:pt>
          <cx:pt idx="193">627</cx:pt>
          <cx:pt idx="194">510</cx:pt>
          <cx:pt idx="195">770</cx:pt>
          <cx:pt idx="196">648</cx:pt>
          <cx:pt idx="197">263</cx:pt>
          <cx:pt idx="198">186</cx:pt>
          <cx:pt idx="199">197</cx:pt>
          <cx:pt idx="200">317</cx:pt>
          <cx:pt idx="201">342</cx:pt>
          <cx:pt idx="202">535</cx:pt>
          <cx:pt idx="203">471</cx:pt>
          <cx:pt idx="204">376</cx:pt>
          <cx:pt idx="205">282</cx:pt>
          <cx:pt idx="206">120</cx:pt>
          <cx:pt idx="207">220</cx:pt>
          <cx:pt idx="208">274</cx:pt>
          <cx:pt idx="209">178</cx:pt>
          <cx:pt idx="210">335</cx:pt>
          <cx:pt idx="211">471</cx:pt>
          <cx:pt idx="212">321</cx:pt>
          <cx:pt idx="213">681</cx:pt>
          <cx:pt idx="214">685</cx:pt>
          <cx:pt idx="215">414</cx:pt>
          <cx:pt idx="216">132</cx:pt>
          <cx:pt idx="217">611</cx:pt>
          <cx:pt idx="218">636</cx:pt>
          <cx:pt idx="219">485</cx:pt>
          <cx:pt idx="220">220</cx:pt>
          <cx:pt idx="221">310</cx:pt>
          <cx:pt idx="222">210</cx:pt>
          <cx:pt idx="223">370</cx:pt>
          <cx:pt idx="224">446</cx:pt>
          <cx:pt idx="225">865</cx:pt>
          <cx:pt idx="226">776</cx:pt>
          <cx:pt idx="227">583</cx:pt>
          <cx:pt idx="228">564</cx:pt>
          <cx:pt idx="229">485</cx:pt>
          <cx:pt idx="230">841</cx:pt>
          <cx:pt idx="231">351</cx:pt>
          <cx:pt idx="232">653</cx:pt>
          <cx:pt idx="233">371</cx:pt>
          <cx:pt idx="234">828</cx:pt>
          <cx:pt idx="235">436</cx:pt>
          <cx:pt idx="236">333</cx:pt>
          <cx:pt idx="237">538</cx:pt>
          <cx:pt idx="238">455</cx:pt>
          <cx:pt idx="239">291</cx:pt>
          <cx:pt idx="240">125</cx:pt>
          <cx:pt idx="241">186</cx:pt>
          <cx:pt idx="242">130</cx:pt>
          <cx:pt idx="243">691</cx:pt>
          <cx:pt idx="244">605</cx:pt>
          <cx:pt idx="245">278</cx:pt>
          <cx:pt idx="246">547</cx:pt>
          <cx:pt idx="247">377</cx:pt>
          <cx:pt idx="248">576</cx:pt>
          <cx:pt idx="249">180</cx:pt>
          <cx:pt idx="250">323</cx:pt>
          <cx:pt idx="251">170</cx:pt>
          <cx:pt idx="252">557</cx:pt>
          <cx:pt idx="253">217</cx:pt>
          <cx:pt idx="254">463</cx:pt>
          <cx:pt idx="255">599</cx:pt>
          <cx:pt idx="256">542</cx:pt>
          <cx:pt idx="257">488</cx:pt>
          <cx:pt idx="258">593</cx:pt>
          <cx:pt idx="259">726</cx:pt>
          <cx:pt idx="260">389</cx:pt>
          <cx:pt idx="261">688</cx:pt>
          <cx:pt idx="262">396</cx:pt>
          <cx:pt idx="263">257</cx:pt>
          <cx:pt idx="264">327</cx:pt>
          <cx:pt idx="265">594</cx:pt>
          <cx:pt idx="266">534</cx:pt>
          <cx:pt idx="267">444</cx:pt>
          <cx:pt idx="268">541</cx:pt>
          <cx:pt idx="269">404</cx:pt>
          <cx:pt idx="270">279</cx:pt>
          <cx:pt idx="271">475</cx:pt>
          <cx:pt idx="272">430</cx:pt>
          <cx:pt idx="273">768</cx:pt>
          <cx:pt idx="274">848</cx:pt>
          <cx:pt idx="275">443</cx:pt>
          <cx:pt idx="276">122</cx:pt>
          <cx:pt idx="277">438</cx:pt>
          <cx:pt idx="278">438</cx:pt>
          <cx:pt idx="279">138</cx:pt>
          <cx:pt idx="280">309</cx:pt>
          <cx:pt idx="281">328</cx:pt>
          <cx:pt idx="282">242</cx:pt>
          <cx:pt idx="283">189</cx:pt>
          <cx:pt idx="284">746</cx:pt>
          <cx:pt idx="285">338</cx:pt>
          <cx:pt idx="286">668</cx:pt>
          <cx:pt idx="287">616</cx:pt>
          <cx:pt idx="288">119</cx:pt>
          <cx:pt idx="289">493</cx:pt>
          <cx:pt idx="290">547</cx:pt>
          <cx:pt idx="291">474</cx:pt>
          <cx:pt idx="292">380</cx:pt>
          <cx:pt idx="293">327</cx:pt>
          <cx:pt idx="294">592</cx:pt>
          <cx:pt idx="295">219</cx:pt>
          <cx:pt idx="296">392</cx:pt>
          <cx:pt idx="297">350</cx:pt>
          <cx:pt idx="298">675</cx:pt>
          <cx:pt idx="299">632</cx:pt>
          <cx:pt idx="300">722</cx:pt>
          <cx:pt idx="301">585</cx:pt>
          <cx:pt idx="302">638</cx:pt>
          <cx:pt idx="303">406</cx:pt>
          <cx:pt idx="304">499</cx:pt>
          <cx:pt idx="305">108</cx:pt>
          <cx:pt idx="306">334</cx:pt>
          <cx:pt idx="307">484</cx:pt>
          <cx:pt idx="308">462</cx:pt>
          <cx:pt idx="309">351</cx:pt>
          <cx:pt idx="310">301</cx:pt>
          <cx:pt idx="311">352</cx:pt>
          <cx:pt idx="312">660</cx:pt>
          <cx:pt idx="313">381</cx:pt>
          <cx:pt idx="314">307</cx:pt>
          <cx:pt idx="315">336</cx:pt>
          <cx:pt idx="316">282</cx:pt>
          <cx:pt idx="317">517</cx:pt>
          <cx:pt idx="318">494</cx:pt>
          <cx:pt idx="319">501</cx:pt>
          <cx:pt idx="320">360</cx:pt>
          <cx:pt idx="321">617</cx:pt>
          <cx:pt idx="322">432</cx:pt>
          <cx:pt idx="323">416</cx:pt>
          <cx:pt idx="324">473</cx:pt>
          <cx:pt idx="325">651</cx:pt>
          <cx:pt idx="326">416</cx:pt>
          <cx:pt idx="327">664</cx:pt>
          <cx:pt idx="328">261</cx:pt>
          <cx:pt idx="329">395</cx:pt>
          <cx:pt idx="330">562</cx:pt>
          <cx:pt idx="331">257</cx:pt>
          <cx:pt idx="332">213</cx:pt>
          <cx:pt idx="333">667</cx:pt>
          <cx:pt idx="334">477</cx:pt>
          <cx:pt idx="335">271</cx:pt>
          <cx:pt idx="336">402</cx:pt>
          <cx:pt idx="337">551</cx:pt>
          <cx:pt idx="338">477</cx:pt>
          <cx:pt idx="339">472</cx:pt>
          <cx:pt idx="340">460</cx:pt>
          <cx:pt idx="341">359</cx:pt>
          <cx:pt idx="342">438</cx:pt>
          <cx:pt idx="343">692</cx:pt>
          <cx:pt idx="344">525</cx:pt>
          <cx:pt idx="345">75</cx:pt>
          <cx:pt idx="346">259</cx:pt>
          <cx:pt idx="347">466</cx:pt>
          <cx:pt idx="348">453</cx:pt>
          <cx:pt idx="349">709</cx:pt>
          <cx:pt idx="350">488</cx:pt>
          <cx:pt idx="351">372</cx:pt>
          <cx:pt idx="352">394</cx:pt>
          <cx:pt idx="353">342</cx:pt>
          <cx:pt idx="354">294</cx:pt>
          <cx:pt idx="355">436</cx:pt>
          <cx:pt idx="356">693</cx:pt>
          <cx:pt idx="357">246</cx:pt>
          <cx:pt idx="358">271</cx:pt>
          <cx:pt idx="359">223</cx:pt>
          <cx:pt idx="360">723</cx:pt>
          <cx:pt idx="361">164</cx:pt>
          <cx:pt idx="362">275</cx:pt>
          <cx:pt idx="363">663</cx:pt>
          <cx:pt idx="364">410</cx:pt>
          <cx:pt idx="365">510</cx:pt>
          <cx:pt idx="366">201</cx:pt>
          <cx:pt idx="367">149</cx:pt>
          <cx:pt idx="368">302</cx:pt>
          <cx:pt idx="369">560</cx:pt>
          <cx:pt idx="370">439</cx:pt>
          <cx:pt idx="371">577</cx:pt>
          <cx:pt idx="372">616</cx:pt>
          <cx:pt idx="373">678</cx:pt>
          <cx:pt idx="374">579</cx:pt>
          <cx:pt idx="375">345</cx:pt>
          <cx:pt idx="376">671</cx:pt>
          <cx:pt idx="377">530</cx:pt>
          <cx:pt idx="378">70</cx:pt>
          <cx:pt idx="379">264</cx:pt>
          <cx:pt idx="380">280</cx:pt>
          <cx:pt idx="381">212</cx:pt>
          <cx:pt idx="382">71</cx:pt>
          <cx:pt idx="383">118</cx:pt>
          <cx:pt idx="384">525</cx:pt>
          <cx:pt idx="385">325</cx:pt>
          <cx:pt idx="386">719</cx:pt>
          <cx:pt idx="387">408</cx:pt>
          <cx:pt idx="388">398</cx:pt>
          <cx:pt idx="389">91</cx:pt>
          <cx:pt idx="390">177</cx:pt>
          <cx:pt idx="391">772</cx:pt>
          <cx:pt idx="392">336</cx:pt>
          <cx:pt idx="393">351</cx:pt>
          <cx:pt idx="394">551</cx:pt>
          <cx:pt idx="395">552</cx:pt>
          <cx:pt idx="396">649</cx:pt>
          <cx:pt idx="397">390</cx:pt>
          <cx:pt idx="398">672</cx:pt>
          <cx:pt idx="399">430</cx:pt>
          <cx:pt idx="400">339</cx:pt>
          <cx:pt idx="401">752</cx:pt>
          <cx:pt idx="402">494</cx:pt>
          <cx:pt idx="403">66</cx:pt>
          <cx:pt idx="404">454</cx:pt>
          <cx:pt idx="405">613</cx:pt>
          <cx:pt idx="406">479</cx:pt>
          <cx:pt idx="407">335</cx:pt>
          <cx:pt idx="408">394</cx:pt>
          <cx:pt idx="409">502</cx:pt>
          <cx:pt idx="410">576</cx:pt>
          <cx:pt idx="411">515</cx:pt>
          <cx:pt idx="412">385</cx:pt>
          <cx:pt idx="413">657</cx:pt>
          <cx:pt idx="414">542</cx:pt>
          <cx:pt idx="415">656</cx:pt>
          <cx:pt idx="416">357</cx:pt>
          <cx:pt idx="417">745</cx:pt>
          <cx:pt idx="418">531</cx:pt>
          <cx:pt idx="419">516</cx:pt>
          <cx:pt idx="420">483</cx:pt>
          <cx:pt idx="421">159</cx:pt>
          <cx:pt idx="422">317</cx:pt>
          <cx:pt idx="423">427</cx:pt>
          <cx:pt idx="424">491</cx:pt>
          <cx:pt idx="425">661</cx:pt>
          <cx:pt idx="426">752</cx:pt>
          <cx:pt idx="427">96</cx:pt>
          <cx:pt idx="428">187</cx:pt>
          <cx:pt idx="429">411</cx:pt>
          <cx:pt idx="430">412</cx:pt>
          <cx:pt idx="431">603</cx:pt>
          <cx:pt idx="432">505</cx:pt>
          <cx:pt idx="433">266</cx:pt>
          <cx:pt idx="434">516</cx:pt>
          <cx:pt idx="435">304</cx:pt>
          <cx:pt idx="436">253</cx:pt>
          <cx:pt idx="437">273</cx:pt>
          <cx:pt idx="438">237</cx:pt>
          <cx:pt idx="439">599</cx:pt>
          <cx:pt idx="440">357</cx:pt>
          <cx:pt idx="441">379</cx:pt>
          <cx:pt idx="442">424</cx:pt>
          <cx:pt idx="443">735</cx:pt>
          <cx:pt idx="444">653</cx:pt>
          <cx:pt idx="445">513</cx:pt>
          <cx:pt idx="446">601</cx:pt>
          <cx:pt idx="447">265</cx:pt>
          <cx:pt idx="448">229</cx:pt>
          <cx:pt idx="449">483</cx:pt>
          <cx:pt idx="450">295</cx:pt>
          <cx:pt idx="451">314</cx:pt>
          <cx:pt idx="452">230</cx:pt>
          <cx:pt idx="453">559</cx:pt>
          <cx:pt idx="454">554</cx:pt>
          <cx:pt idx="455">593</cx:pt>
          <cx:pt idx="456">443</cx:pt>
          <cx:pt idx="457">128</cx:pt>
          <cx:pt idx="458">483</cx:pt>
          <cx:pt idx="459">301</cx:pt>
          <cx:pt idx="460">414</cx:pt>
          <cx:pt idx="461">177</cx:pt>
          <cx:pt idx="462">415</cx:pt>
          <cx:pt idx="463">236</cx:pt>
          <cx:pt idx="464">406</cx:pt>
          <cx:pt idx="465">340</cx:pt>
          <cx:pt idx="466">474</cx:pt>
          <cx:pt idx="467">409</cx:pt>
          <cx:pt idx="468">321</cx:pt>
          <cx:pt idx="469">316</cx:pt>
          <cx:pt idx="470">468</cx:pt>
          <cx:pt idx="471">439</cx:pt>
          <cx:pt idx="472">696</cx:pt>
          <cx:pt idx="473">576</cx:pt>
          <cx:pt idx="474">785</cx:pt>
          <cx:pt idx="475">359</cx:pt>
          <cx:pt idx="476">276</cx:pt>
          <cx:pt idx="477">346</cx:pt>
          <cx:pt idx="478">109</cx:pt>
          <cx:pt idx="479">806</cx:pt>
          <cx:pt idx="480">380</cx:pt>
          <cx:pt idx="481">127</cx:pt>
          <cx:pt idx="482">350</cx:pt>
          <cx:pt idx="483">571</cx:pt>
          <cx:pt idx="484">513</cx:pt>
          <cx:pt idx="485">526</cx:pt>
          <cx:pt idx="486">390</cx:pt>
          <cx:pt idx="487">549</cx:pt>
          <cx:pt idx="488">619</cx:pt>
          <cx:pt idx="489">710</cx:pt>
          <cx:pt idx="490">522</cx:pt>
          <cx:pt idx="491">508</cx:pt>
          <cx:pt idx="492">772</cx:pt>
          <cx:pt idx="493">161</cx:pt>
          <cx:pt idx="494">477</cx:pt>
          <cx:pt idx="495">501</cx:pt>
          <cx:pt idx="496">423</cx:pt>
          <cx:pt idx="497">577</cx:pt>
          <cx:pt idx="498">492</cx:pt>
          <cx:pt idx="499">593</cx:pt>
          <cx:pt idx="500">482</cx:pt>
          <cx:pt idx="501">461</cx:pt>
          <cx:pt idx="502">229</cx:pt>
          <cx:pt idx="503">446</cx:pt>
          <cx:pt idx="504">554</cx:pt>
          <cx:pt idx="505">414</cx:pt>
          <cx:pt idx="506">720</cx:pt>
          <cx:pt idx="507">635</cx:pt>
          <cx:pt idx="508">448</cx:pt>
          <cx:pt idx="509">592</cx:pt>
          <cx:pt idx="510">543</cx:pt>
          <cx:pt idx="511">634</cx:pt>
          <cx:pt idx="512">136</cx:pt>
          <cx:pt idx="513">628</cx:pt>
          <cx:pt idx="514">780</cx:pt>
          <cx:pt idx="515">586</cx:pt>
          <cx:pt idx="516">568</cx:pt>
          <cx:pt idx="517">438</cx:pt>
          <cx:pt idx="518">334</cx:pt>
          <cx:pt idx="519">721</cx:pt>
          <cx:pt idx="520">287</cx:pt>
          <cx:pt idx="521">299</cx:pt>
          <cx:pt idx="522">534</cx:pt>
          <cx:pt idx="523">321</cx:pt>
          <cx:pt idx="524">413</cx:pt>
          <cx:pt idx="525">405</cx:pt>
          <cx:pt idx="526">455</cx:pt>
          <cx:pt idx="527">607</cx:pt>
          <cx:pt idx="528">674</cx:pt>
          <cx:pt idx="529">480</cx:pt>
          <cx:pt idx="530">549</cx:pt>
          <cx:pt idx="531">516</cx:pt>
          <cx:pt idx="532">767</cx:pt>
          <cx:pt idx="533">260</cx:pt>
          <cx:pt idx="534">261</cx:pt>
          <cx:pt idx="535">577</cx:pt>
          <cx:pt idx="536">634</cx:pt>
          <cx:pt idx="537">480</cx:pt>
          <cx:pt idx="538">505</cx:pt>
          <cx:pt idx="539">498</cx:pt>
          <cx:pt idx="540">690</cx:pt>
          <cx:pt idx="541">408</cx:pt>
          <cx:pt idx="542">567</cx:pt>
          <cx:pt idx="543">525</cx:pt>
          <cx:pt idx="544">379</cx:pt>
          <cx:pt idx="545">461</cx:pt>
          <cx:pt idx="546">549</cx:pt>
          <cx:pt idx="547">583</cx:pt>
          <cx:pt idx="548">429</cx:pt>
          <cx:pt idx="549">249</cx:pt>
          <cx:pt idx="550">435</cx:pt>
          <cx:pt idx="551">224</cx:pt>
          <cx:pt idx="552">304</cx:pt>
          <cx:pt idx="553">252</cx:pt>
          <cx:pt idx="554">428</cx:pt>
          <cx:pt idx="555">399</cx:pt>
          <cx:pt idx="556">180</cx:pt>
          <cx:pt idx="557">186</cx:pt>
          <cx:pt idx="558">64</cx:pt>
          <cx:pt idx="559">634</cx:pt>
          <cx:pt idx="560">235</cx:pt>
          <cx:pt idx="561">163</cx:pt>
          <cx:pt idx="562">347</cx:pt>
          <cx:pt idx="563">740</cx:pt>
          <cx:pt idx="564">386</cx:pt>
          <cx:pt idx="565">456</cx:pt>
          <cx:pt idx="566">451</cx:pt>
          <cx:pt idx="567">855</cx:pt>
          <cx:pt idx="568">752</cx:pt>
          <cx:pt idx="569">521</cx:pt>
          <cx:pt idx="570">104</cx:pt>
          <cx:pt idx="571">441</cx:pt>
          <cx:pt idx="572">486</cx:pt>
          <cx:pt idx="573">193</cx:pt>
          <cx:pt idx="574">422</cx:pt>
          <cx:pt idx="575">138</cx:pt>
          <cx:pt idx="576">130</cx:pt>
          <cx:pt idx="577">441</cx:pt>
          <cx:pt idx="578">238</cx:pt>
          <cx:pt idx="579">346</cx:pt>
          <cx:pt idx="580">747</cx:pt>
          <cx:pt idx="581">725</cx:pt>
          <cx:pt idx="582">723</cx:pt>
          <cx:pt idx="583">542</cx:pt>
          <cx:pt idx="584">335</cx:pt>
          <cx:pt idx="585">352</cx:pt>
          <cx:pt idx="586">350</cx:pt>
          <cx:pt idx="587">254</cx:pt>
          <cx:pt idx="588">375</cx:pt>
          <cx:pt idx="589">547</cx:pt>
          <cx:pt idx="590">390</cx:pt>
          <cx:pt idx="591">447</cx:pt>
          <cx:pt idx="592">695</cx:pt>
          <cx:pt idx="593">281</cx:pt>
          <cx:pt idx="594">288</cx:pt>
          <cx:pt idx="595">834</cx:pt>
          <cx:pt idx="596">329</cx:pt>
          <cx:pt idx="597">555</cx:pt>
          <cx:pt idx="598">512</cx:pt>
          <cx:pt idx="599">541</cx:pt>
          <cx:pt idx="600">295</cx:pt>
          <cx:pt idx="601">274</cx:pt>
          <cx:pt idx="602">429</cx:pt>
          <cx:pt idx="603">856</cx:pt>
          <cx:pt idx="604">61</cx:pt>
          <cx:pt idx="605">616</cx:pt>
          <cx:pt idx="606">603</cx:pt>
          <cx:pt idx="607">169</cx:pt>
          <cx:pt idx="608">643</cx:pt>
          <cx:pt idx="609">167</cx:pt>
          <cx:pt idx="610">362</cx:pt>
          <cx:pt idx="611">549</cx:pt>
          <cx:pt idx="612">544</cx:pt>
          <cx:pt idx="613">541</cx:pt>
          <cx:pt idx="614">646</cx:pt>
          <cx:pt idx="615">497</cx:pt>
          <cx:pt idx="616">366</cx:pt>
          <cx:pt idx="617">136</cx:pt>
          <cx:pt idx="618">628</cx:pt>
          <cx:pt idx="619">669</cx:pt>
          <cx:pt idx="620">415</cx:pt>
          <cx:pt idx="621">95</cx:pt>
          <cx:pt idx="622">309</cx:pt>
          <cx:pt idx="623">100</cx:pt>
          <cx:pt idx="624">307</cx:pt>
          <cx:pt idx="625">366</cx:pt>
          <cx:pt idx="626">585</cx:pt>
          <cx:pt idx="627">347</cx:pt>
          <cx:pt idx="628">198</cx:pt>
          <cx:pt idx="629">611</cx:pt>
          <cx:pt idx="630">287</cx:pt>
          <cx:pt idx="631">273</cx:pt>
          <cx:pt idx="632">347</cx:pt>
          <cx:pt idx="633">571</cx:pt>
          <cx:pt idx="634">643</cx:pt>
          <cx:pt idx="635">598</cx:pt>
          <cx:pt idx="636">228</cx:pt>
          <cx:pt idx="637">743</cx:pt>
          <cx:pt idx="638">581</cx:pt>
          <cx:pt idx="639">626</cx:pt>
          <cx:pt idx="640">92</cx:pt>
          <cx:pt idx="641">591</cx:pt>
          <cx:pt idx="642">555</cx:pt>
          <cx:pt idx="643">486</cx:pt>
          <cx:pt idx="644">291</cx:pt>
          <cx:pt idx="645">558</cx:pt>
          <cx:pt idx="646">88</cx:pt>
          <cx:pt idx="647">773</cx:pt>
          <cx:pt idx="648">387</cx:pt>
          <cx:pt idx="649">163</cx:pt>
          <cx:pt idx="650">265</cx:pt>
          <cx:pt idx="651">509</cx:pt>
          <cx:pt idx="652">379</cx:pt>
          <cx:pt idx="653">759</cx:pt>
          <cx:pt idx="654">462</cx:pt>
          <cx:pt idx="655">237</cx:pt>
          <cx:pt idx="656">556</cx:pt>
          <cx:pt idx="657">796</cx:pt>
          <cx:pt idx="658">707</cx:pt>
          <cx:pt idx="659">588</cx:pt>
          <cx:pt idx="660">399</cx:pt>
          <cx:pt idx="661">604</cx:pt>
          <cx:pt idx="662">498</cx:pt>
          <cx:pt idx="663">612</cx:pt>
          <cx:pt idx="664">423</cx:pt>
          <cx:pt idx="665">247</cx:pt>
          <cx:pt idx="666">193</cx:pt>
          <cx:pt idx="667">229</cx:pt>
          <cx:pt idx="668">369</cx:pt>
          <cx:pt idx="669">544</cx:pt>
          <cx:pt idx="670">338</cx:pt>
          <cx:pt idx="671">435</cx:pt>
          <cx:pt idx="672">565</cx:pt>
          <cx:pt idx="673">682</cx:pt>
          <cx:pt idx="674">361</cx:pt>
          <cx:pt idx="675">508</cx:pt>
          <cx:pt idx="676">211</cx:pt>
          <cx:pt idx="677">472</cx:pt>
          <cx:pt idx="678">609</cx:pt>
          <cx:pt idx="679">747</cx:pt>
          <cx:pt idx="680">524</cx:pt>
          <cx:pt idx="681">202</cx:pt>
          <cx:pt idx="682">61</cx:pt>
          <cx:pt idx="683">660</cx:pt>
          <cx:pt idx="684">470</cx:pt>
          <cx:pt idx="685">576</cx:pt>
          <cx:pt idx="686">866</cx:pt>
          <cx:pt idx="687">545</cx:pt>
          <cx:pt idx="688">412</cx:pt>
          <cx:pt idx="689">452</cx:pt>
          <cx:pt idx="690">416</cx:pt>
          <cx:pt idx="691">735</cx:pt>
          <cx:pt idx="692">67</cx:pt>
          <cx:pt idx="693">268</cx:pt>
          <cx:pt idx="694">126</cx:pt>
          <cx:pt idx="695">696</cx:pt>
          <cx:pt idx="696">532</cx:pt>
          <cx:pt idx="697">604</cx:pt>
          <cx:pt idx="698">243</cx:pt>
          <cx:pt idx="699">330</cx:pt>
          <cx:pt idx="700">310</cx:pt>
          <cx:pt idx="701">429</cx:pt>
          <cx:pt idx="702">349</cx:pt>
          <cx:pt idx="703">552</cx:pt>
          <cx:pt idx="704">309</cx:pt>
          <cx:pt idx="705">247</cx:pt>
          <cx:pt idx="706">582</cx:pt>
          <cx:pt idx="707">291</cx:pt>
          <cx:pt idx="708">360</cx:pt>
          <cx:pt idx="709">219</cx:pt>
          <cx:pt idx="710">243</cx:pt>
          <cx:pt idx="711">335</cx:pt>
          <cx:pt idx="712">590</cx:pt>
          <cx:pt idx="713">569</cx:pt>
          <cx:pt idx="714">344</cx:pt>
          <cx:pt idx="715">548</cx:pt>
          <cx:pt idx="716">725</cx:pt>
          <cx:pt idx="717">410</cx:pt>
          <cx:pt idx="718">156</cx:pt>
          <cx:pt idx="719">615</cx:pt>
          <cx:pt idx="720">335</cx:pt>
          <cx:pt idx="721">493</cx:pt>
          <cx:pt idx="722">361</cx:pt>
          <cx:pt idx="723">203</cx:pt>
          <cx:pt idx="724">693</cx:pt>
          <cx:pt idx="725">218</cx:pt>
          <cx:pt idx="726">481</cx:pt>
          <cx:pt idx="727">493</cx:pt>
          <cx:pt idx="728">373</cx:pt>
          <cx:pt idx="729">615</cx:pt>
          <cx:pt idx="730">325</cx:pt>
          <cx:pt idx="731">423</cx:pt>
          <cx:pt idx="732">475</cx:pt>
          <cx:pt idx="733">357</cx:pt>
          <cx:pt idx="734">474</cx:pt>
          <cx:pt idx="735">517</cx:pt>
          <cx:pt idx="736">391</cx:pt>
          <cx:pt idx="737">455</cx:pt>
          <cx:pt idx="738">438</cx:pt>
          <cx:pt idx="739">247</cx:pt>
          <cx:pt idx="740">707</cx:pt>
          <cx:pt idx="741">269</cx:pt>
          <cx:pt idx="742">504</cx:pt>
          <cx:pt idx="743">280</cx:pt>
          <cx:pt idx="744">293</cx:pt>
          <cx:pt idx="745">583</cx:pt>
          <cx:pt idx="746">394</cx:pt>
          <cx:pt idx="747">310</cx:pt>
          <cx:pt idx="748">529</cx:pt>
          <cx:pt idx="749">216</cx:pt>
          <cx:pt idx="750">610</cx:pt>
          <cx:pt idx="751">346</cx:pt>
          <cx:pt idx="752">196</cx:pt>
          <cx:pt idx="753">551</cx:pt>
          <cx:pt idx="754">710</cx:pt>
          <cx:pt idx="755">735</cx:pt>
          <cx:pt idx="756">609</cx:pt>
          <cx:pt idx="757">520</cx:pt>
          <cx:pt idx="758">232</cx:pt>
          <cx:pt idx="759">722</cx:pt>
          <cx:pt idx="760">322</cx:pt>
          <cx:pt idx="761">470</cx:pt>
          <cx:pt idx="762">351</cx:pt>
          <cx:pt idx="763">426</cx:pt>
          <cx:pt idx="764">72</cx:pt>
          <cx:pt idx="765">495</cx:pt>
          <cx:pt idx="766">342</cx:pt>
          <cx:pt idx="767">417</cx:pt>
          <cx:pt idx="768">539</cx:pt>
          <cx:pt idx="769">294</cx:pt>
          <cx:pt idx="770">739</cx:pt>
          <cx:pt idx="771">376</cx:pt>
          <cx:pt idx="772">292</cx:pt>
          <cx:pt idx="773">532</cx:pt>
          <cx:pt idx="774">767</cx:pt>
          <cx:pt idx="775">286</cx:pt>
          <cx:pt idx="776">469</cx:pt>
          <cx:pt idx="777">329</cx:pt>
          <cx:pt idx="778">498</cx:pt>
          <cx:pt idx="779">249</cx:pt>
          <cx:pt idx="780">478</cx:pt>
          <cx:pt idx="781">616</cx:pt>
          <cx:pt idx="782">458</cx:pt>
          <cx:pt idx="783">415</cx:pt>
          <cx:pt idx="784">699</cx:pt>
          <cx:pt idx="785">197</cx:pt>
          <cx:pt idx="786">483</cx:pt>
          <cx:pt idx="787">169</cx:pt>
          <cx:pt idx="788">576</cx:pt>
          <cx:pt idx="789">560</cx:pt>
          <cx:pt idx="790">605</cx:pt>
          <cx:pt idx="791">223</cx:pt>
          <cx:pt idx="792">696</cx:pt>
          <cx:pt idx="793">386</cx:pt>
          <cx:pt idx="794">489</cx:pt>
          <cx:pt idx="795">155</cx:pt>
          <cx:pt idx="796">311</cx:pt>
          <cx:pt idx="797">464</cx:pt>
          <cx:pt idx="798">419</cx:pt>
          <cx:pt idx="799">375</cx:pt>
          <cx:pt idx="800">217</cx:pt>
          <cx:pt idx="801">364</cx:pt>
          <cx:pt idx="802">189</cx:pt>
          <cx:pt idx="803">301</cx:pt>
          <cx:pt idx="804">587</cx:pt>
          <cx:pt idx="805">387</cx:pt>
          <cx:pt idx="806">645</cx:pt>
          <cx:pt idx="807">290</cx:pt>
          <cx:pt idx="808">565</cx:pt>
          <cx:pt idx="809">604</cx:pt>
          <cx:pt idx="810">169</cx:pt>
          <cx:pt idx="811">174</cx:pt>
          <cx:pt idx="812">84</cx:pt>
          <cx:pt idx="813">467</cx:pt>
          <cx:pt idx="814">795</cx:pt>
          <cx:pt idx="815">270</cx:pt>
          <cx:pt idx="816">653</cx:pt>
          <cx:pt idx="817">249</cx:pt>
          <cx:pt idx="818">312</cx:pt>
          <cx:pt idx="819">482</cx:pt>
          <cx:pt idx="820">221</cx:pt>
          <cx:pt idx="821">635</cx:pt>
          <cx:pt idx="822">480</cx:pt>
          <cx:pt idx="823">346</cx:pt>
          <cx:pt idx="824">640</cx:pt>
          <cx:pt idx="825">232</cx:pt>
          <cx:pt idx="826">676</cx:pt>
          <cx:pt idx="827">279</cx:pt>
          <cx:pt idx="828">413</cx:pt>
          <cx:pt idx="829">115</cx:pt>
          <cx:pt idx="830">293</cx:pt>
          <cx:pt idx="831">595</cx:pt>
          <cx:pt idx="832">222</cx:pt>
          <cx:pt idx="833">513</cx:pt>
          <cx:pt idx="834">658</cx:pt>
          <cx:pt idx="835">438</cx:pt>
          <cx:pt idx="836">608</cx:pt>
          <cx:pt idx="837">452</cx:pt>
          <cx:pt idx="838">579</cx:pt>
          <cx:pt idx="839">280</cx:pt>
          <cx:pt idx="840">229</cx:pt>
          <cx:pt idx="841">549</cx:pt>
          <cx:pt idx="842">483</cx:pt>
          <cx:pt idx="843">404</cx:pt>
          <cx:pt idx="844">812</cx:pt>
          <cx:pt idx="845">494</cx:pt>
          <cx:pt idx="846">590</cx:pt>
          <cx:pt idx="847">484</cx:pt>
          <cx:pt idx="848">260</cx:pt>
          <cx:pt idx="849">432</cx:pt>
          <cx:pt idx="850">184</cx:pt>
          <cx:pt idx="851">256</cx:pt>
          <cx:pt idx="852">179</cx:pt>
          <cx:pt idx="853">553</cx:pt>
          <cx:pt idx="854">775</cx:pt>
          <cx:pt idx="855">330</cx:pt>
          <cx:pt idx="856">326</cx:pt>
          <cx:pt idx="857">708</cx:pt>
          <cx:pt idx="858">502</cx:pt>
          <cx:pt idx="859">438</cx:pt>
          <cx:pt idx="860">575</cx:pt>
          <cx:pt idx="861">672</cx:pt>
          <cx:pt idx="862">644</cx:pt>
          <cx:pt idx="863">496</cx:pt>
          <cx:pt idx="864">239</cx:pt>
          <cx:pt idx="865">434</cx:pt>
          <cx:pt idx="866">596</cx:pt>
          <cx:pt idx="867">573</cx:pt>
          <cx:pt idx="868">437</cx:pt>
          <cx:pt idx="869">648</cx:pt>
          <cx:pt idx="870">301</cx:pt>
          <cx:pt idx="871">482</cx:pt>
          <cx:pt idx="872">536</cx:pt>
          <cx:pt idx="873">278</cx:pt>
          <cx:pt idx="874">260</cx:pt>
          <cx:pt idx="875">696</cx:pt>
          <cx:pt idx="876">299</cx:pt>
          <cx:pt idx="877">532</cx:pt>
          <cx:pt idx="878">681</cx:pt>
          <cx:pt idx="879">285</cx:pt>
          <cx:pt idx="880">198</cx:pt>
          <cx:pt idx="881">573</cx:pt>
          <cx:pt idx="882">621</cx:pt>
          <cx:pt idx="883">569</cx:pt>
          <cx:pt idx="884">626</cx:pt>
          <cx:pt idx="885">346</cx:pt>
          <cx:pt idx="886">436</cx:pt>
          <cx:pt idx="887">352</cx:pt>
          <cx:pt idx="888">406</cx:pt>
          <cx:pt idx="889">80</cx:pt>
          <cx:pt idx="890">638</cx:pt>
          <cx:pt idx="891">511</cx:pt>
          <cx:pt idx="892">292</cx:pt>
          <cx:pt idx="893">371</cx:pt>
          <cx:pt idx="894">336</cx:pt>
          <cx:pt idx="895">394</cx:pt>
          <cx:pt idx="896">614</cx:pt>
          <cx:pt idx="897">102</cx:pt>
          <cx:pt idx="898">304</cx:pt>
          <cx:pt idx="899">607</cx:pt>
          <cx:pt idx="900">270</cx:pt>
          <cx:pt idx="901">494</cx:pt>
          <cx:pt idx="902">279</cx:pt>
          <cx:pt idx="903">532</cx:pt>
          <cx:pt idx="904">363</cx:pt>
          <cx:pt idx="905">513</cx:pt>
          <cx:pt idx="906">545</cx:pt>
          <cx:pt idx="907">665</cx:pt>
          <cx:pt idx="908">8</cx:pt>
          <cx:pt idx="909">338</cx:pt>
          <cx:pt idx="910">95</cx:pt>
          <cx:pt idx="911">268</cx:pt>
          <cx:pt idx="912">559</cx:pt>
          <cx:pt idx="913">504</cx:pt>
          <cx:pt idx="914">468</cx:pt>
          <cx:pt idx="915">483</cx:pt>
          <cx:pt idx="916">157</cx:pt>
          <cx:pt idx="917">724</cx:pt>
          <cx:pt idx="918">545</cx:pt>
          <cx:pt idx="919">292</cx:pt>
          <cx:pt idx="920">573</cx:pt>
          <cx:pt idx="921">496</cx:pt>
          <cx:pt idx="922">497</cx:pt>
          <cx:pt idx="923">599</cx:pt>
          <cx:pt idx="924">238</cx:pt>
          <cx:pt idx="925">597</cx:pt>
          <cx:pt idx="926">424</cx:pt>
          <cx:pt idx="927">367</cx:pt>
          <cx:pt idx="928">566</cx:pt>
          <cx:pt idx="929">433</cx:pt>
          <cx:pt idx="930">226</cx:pt>
          <cx:pt idx="931">538</cx:pt>
          <cx:pt idx="932">510</cx:pt>
          <cx:pt idx="933">124</cx:pt>
          <cx:pt idx="934">347</cx:pt>
          <cx:pt idx="935">589</cx:pt>
          <cx:pt idx="936">631</cx:pt>
          <cx:pt idx="937">432</cx:pt>
          <cx:pt idx="938">391</cx:pt>
          <cx:pt idx="939">786</cx:pt>
          <cx:pt idx="940">349</cx:pt>
          <cx:pt idx="941">517</cx:pt>
          <cx:pt idx="942">437</cx:pt>
          <cx:pt idx="943">296</cx:pt>
          <cx:pt idx="944">569</cx:pt>
          <cx:pt idx="945">430</cx:pt>
          <cx:pt idx="946">157</cx:pt>
          <cx:pt idx="947">482</cx:pt>
          <cx:pt idx="948">523</cx:pt>
          <cx:pt idx="949">529</cx:pt>
          <cx:pt idx="950">356</cx:pt>
          <cx:pt idx="951">386</cx:pt>
          <cx:pt idx="952">554</cx:pt>
          <cx:pt idx="953">547</cx:pt>
          <cx:pt idx="954">585</cx:pt>
          <cx:pt idx="955">453</cx:pt>
          <cx:pt idx="956">68</cx:pt>
          <cx:pt idx="957">212</cx:pt>
          <cx:pt idx="958">356</cx:pt>
          <cx:pt idx="959">692</cx:pt>
          <cx:pt idx="960">643</cx:pt>
          <cx:pt idx="961">220</cx:pt>
          <cx:pt idx="962">43</cx:pt>
          <cx:pt idx="963">388</cx:pt>
          <cx:pt idx="964">725</cx:pt>
          <cx:pt idx="965">383</cx:pt>
          <cx:pt idx="966">346</cx:pt>
          <cx:pt idx="967">331</cx:pt>
          <cx:pt idx="968">487</cx:pt>
          <cx:pt idx="969">362</cx:pt>
          <cx:pt idx="970">606</cx:pt>
          <cx:pt idx="971">520</cx:pt>
          <cx:pt idx="972">249</cx:pt>
          <cx:pt idx="973">447</cx:pt>
          <cx:pt idx="974">721</cx:pt>
          <cx:pt idx="975">659</cx:pt>
          <cx:pt idx="976">332</cx:pt>
          <cx:pt idx="977">370</cx:pt>
          <cx:pt idx="978">214</cx:pt>
          <cx:pt idx="979">189</cx:pt>
          <cx:pt idx="980">656</cx:pt>
          <cx:pt idx="981">543</cx:pt>
          <cx:pt idx="982">497</cx:pt>
          <cx:pt idx="983">411</cx:pt>
          <cx:pt idx="984">778</cx:pt>
          <cx:pt idx="985">389</cx:pt>
          <cx:pt idx="986">526</cx:pt>
          <cx:pt idx="987">352</cx:pt>
          <cx:pt idx="988">495</cx:pt>
          <cx:pt idx="989">571</cx:pt>
          <cx:pt idx="990">388</cx:pt>
          <cx:pt idx="991">591</cx:pt>
          <cx:pt idx="992">267</cx:pt>
          <cx:pt idx="993">406</cx:pt>
          <cx:pt idx="994">517</cx:pt>
          <cx:pt idx="995">48</cx:pt>
          <cx:pt idx="996">387</cx:pt>
          <cx:pt idx="997">680</cx:pt>
          <cx:pt idx="998">253</cx:pt>
          <cx:pt idx="999">702</cx:pt>
        </cx:lvl>
      </cx:numDim>
    </cx:data>
  </cx:chartData>
  <cx:chart>
    <cx:title pos="t" align="ctr" overlay="0">
      <cx:tx>
        <cx:txData>
          <cx:v>Количество дней с момента регистрации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 sz="2000" b="1" i="1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defRPr>
          </a:pPr>
          <a:r>
            <a:rPr lang="ru-RU" sz="2000" b="1" i="1" u="none" strike="noStrike" baseline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Количество дней с момента регистрации</a:t>
          </a:r>
        </a:p>
      </cx:txPr>
    </cx:title>
    <cx:plotArea>
      <cx:plotAreaRegion>
        <cx:series layoutId="clusteredColumn" uniqueId="{41A03DA1-1AED-4A18-9D65-0FD04F411727}">
          <cx:dataId val="0"/>
          <cx:layoutPr>
            <cx:binning intervalClosed="r">
              <cx:binSize val="100"/>
            </cx:binning>
          </cx:layoutPr>
        </cx:series>
      </cx:plotAreaRegion>
      <cx:axis id="0">
        <cx:catScaling gapWidth="0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b="1" i="1">
                <a:solidFill>
                  <a:schemeClr val="tx2">
                    <a:lumMod val="50000"/>
                  </a:schemeClr>
                </a:solidFill>
              </a:defRPr>
            </a:pPr>
            <a:endParaRPr lang="ru-RU" sz="900" b="1" i="1" u="none" strike="noStrike" baseline="0">
              <a:solidFill>
                <a:schemeClr val="tx2">
                  <a:lumMod val="50000"/>
                </a:schemeClr>
              </a:solidFill>
              <a:latin typeface="Calibri"/>
            </a:endParaRPr>
          </a:p>
        </cx:txPr>
      </cx:axis>
      <cx:axis id="1">
        <cx:valScaling/>
        <cx:majorGridlines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b="1" i="1"/>
            </a:pPr>
            <a:endParaRPr lang="ru-RU" sz="900" b="1" i="1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Calibri"/>
            </a:endParaRPr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2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3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4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5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6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7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8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9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10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11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12.xml><?xml version="1.0" encoding="utf-8"?>
<cs:colorStyle xmlns:cs="http://schemas.microsoft.com/office/drawing/2012/chartStyle" xmlns:a="http://schemas.openxmlformats.org/drawingml/2006/main" meth="cycle" id="10000">
  <a:srgbClr val="637CEF"/>
  <a:srgbClr val="E3008C"/>
  <a:srgbClr val="2AA0A4"/>
  <a:srgbClr val="9373C0"/>
  <a:srgbClr val="13A10E"/>
  <a:srgbClr val="3A96DD"/>
  <a:srgbClr val="CA5010"/>
  <a:srgbClr val="57811B"/>
  <a:srgbClr val="B146C2"/>
  <a:srgbClr val="AE8C00"/>
  <a:srgbClr val="AE8C00"/>
  <a:srgbClr val="637CEF"/>
  <a:srgbClr val="EE5FB7"/>
  <a:srgbClr val="008B94"/>
  <a:srgbClr val="D77440"/>
  <a:srgbClr val="BA58C9"/>
  <a:srgbClr val="3A96DD"/>
  <a:srgbClr val="E3008C"/>
  <a:srgbClr val="C36BD1"/>
  <a:srgbClr val="D06228"/>
  <a:srgbClr val="57811B"/>
</cs:colorStyle>
</file>

<file path=ppt/charts/colors13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8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/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narHorz">
        <a:fgClr>
          <a:schemeClr val="phClr"/>
        </a:fgClr>
        <a:bgClr>
          <a:schemeClr val="phClr">
            <a:lumMod val="20000"/>
            <a:lumOff val="80000"/>
          </a:schemeClr>
        </a:bgClr>
      </a:pattFill>
      <a:effectLst>
        <a:innerShdw blurRad="114300">
          <a:schemeClr val="phClr"/>
        </a:innerShdw>
      </a:effectLst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tx1"/>
    </cs:fontRef>
    <cs:spPr>
      <a:pattFill prst="ltDn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>
        <a:solidFill>
          <a:schemeClr val="phClr"/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solidFill>
        <a:schemeClr val="lt1"/>
      </a:solidFill>
      <a:sp3d/>
    </cs:spPr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18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13.xml><?xml version="1.0" encoding="utf-8"?>
<cs:chartStyle xmlns:cs="http://schemas.microsoft.com/office/drawing/2012/chartStyle" xmlns:a="http://schemas.openxmlformats.org/drawingml/2006/main" id="36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7EB2E-1D88-81B2-C2F5-F26AF2CD3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FCB0846-FB41-131D-BA9C-8F35BD7B8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EC3308-9F62-BAC8-B45D-653AB0636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3DC38-3CDC-477B-8BAE-2FD5356AA226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A9A185-6493-237E-356B-5A8603790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AB2D2B-CA72-C2BD-F8B9-4D4C1CF46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19AD2-C5C3-40C1-866E-17262C5845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764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1AA5BC-CE22-4004-D528-5DF6BA3D3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2BDC23-3AC5-A289-1B40-DE8709CB2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55664A-CBF7-AF93-BBC9-913BDC79E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3DC38-3CDC-477B-8BAE-2FD5356AA226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3F09B2-3DB4-ED16-776C-FB12C1337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6925C2-EB69-27FB-2A0B-9B2DE8783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19AD2-C5C3-40C1-866E-17262C5845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3568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A08E6B-A9E7-92A5-1AEF-68B3B24FA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194030D-D6A8-3FD2-FA74-CC9AD974B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170A09-73F2-029C-BE22-8465812A4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3DC38-3CDC-477B-8BAE-2FD5356AA226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279D27-86AC-66FC-1306-62532403B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1B17781-A345-8576-39BB-C09B52F5C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19AD2-C5C3-40C1-866E-17262C5845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898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C4C3BA-1BD0-1ECC-EA6C-876F8C2AB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5ACDF9-4A70-B23B-9040-B926DF6B71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931D266-0F8A-5E56-212B-307493007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9EC617D-B794-BF42-6E67-4493301B7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3DC38-3CDC-477B-8BAE-2FD5356AA226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ED725D0-1134-ED2D-1482-C76A028A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9FD72B-BA22-5B5F-D68D-A917ABB5E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19AD2-C5C3-40C1-866E-17262C5845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3158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855F53-446D-2745-58F0-BFE37B197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75BFE8-0D9F-E038-EF4A-6656CF767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2C1889-274D-BF6D-1912-D9268245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B33976E-37EB-4A6A-974A-E579D44F5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30D36BB-9D92-8D3C-5C95-7B860C3209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6545786-334A-4564-D8D6-5BE3AFBC6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3DC38-3CDC-477B-8BAE-2FD5356AA226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59B74DD-0D65-A2A6-DB91-8B8D0118C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5931FE7-3CD0-64EE-76A5-BFFBF5938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19AD2-C5C3-40C1-866E-17262C5845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1894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27E1F1-5BF3-B049-C6B2-AE42609D2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968B76D-DC83-ECDA-D009-D09553240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3DC38-3CDC-477B-8BAE-2FD5356AA226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957A12-3DC0-6991-6F4C-2F9C632FA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0C52D19-B570-76B1-96C3-EC102B42F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19AD2-C5C3-40C1-866E-17262C5845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6031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FD86DAC-515B-76B2-7A01-8DFD0D815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3DC38-3CDC-477B-8BAE-2FD5356AA226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D3CBF0B-8010-907B-2182-90C5BE153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E04E25-69DD-D4B4-588D-52DE809BA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19AD2-C5C3-40C1-866E-17262C5845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3517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62C08C-15F4-036E-3E76-1AC5CCAB7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61BA7C-7F33-D98B-14F0-76EAB8925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B422F0A-B45B-C349-8889-E9A18DC81F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02C328-22CC-2C30-E373-1C292E6A9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3DC38-3CDC-477B-8BAE-2FD5356AA226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DF046F-6BC0-7E88-8706-231459924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8718DA-656A-096E-8C0D-D6BF820C6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19AD2-C5C3-40C1-866E-17262C5845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9926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AA6565-590A-1F24-38BE-7C4C4D2FA4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EBBECAD-9DBE-1E60-C45C-9089A9575F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612CA8A-8954-97A3-96E0-0EDB121C6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D29D3FC-85B1-130A-ED1C-EE259560D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3DC38-3CDC-477B-8BAE-2FD5356AA226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0AE3EBF-7E03-F21E-D820-3A586ABF3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78D9A90-117D-3767-32A0-CA956D8F7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19AD2-C5C3-40C1-866E-17262C5845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7283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624331-0FCF-7240-C245-B8998A7AE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B00E821-A988-62E9-1B44-DA84977AE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94ED7C-EF3C-0036-005D-8FF286090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3DC38-3CDC-477B-8BAE-2FD5356AA226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377B1E-B914-EA94-F6B2-DB72B736C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F9C3D9-B61A-3869-5CE6-1E9A5FF71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19AD2-C5C3-40C1-866E-17262C5845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5539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4073FF4-DC42-6EDA-6D98-D7EA93AF1C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36E469F-3EA1-C4A2-02D6-FAA9944CE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BA4CDC-77B1-288D-396A-B00755412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3DC38-3CDC-477B-8BAE-2FD5356AA226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52F3D60-95F0-41F0-F93D-2D7075961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158697-DE34-3181-B75A-94DBF3774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319AD2-C5C3-40C1-866E-17262C5845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9863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C11708-7D35-C111-3D85-9C7418CDE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9A2734-4B86-84E1-9F35-7CE3FDAF6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923282-AF97-B5FE-9BB5-D10EEF8C61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3DC38-3CDC-477B-8BAE-2FD5356AA226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D5DC9E-B844-92A4-E053-DC6FC1CE2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A7F306-779F-C953-AF1F-BB23042102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19AD2-C5C3-40C1-866E-17262C5845F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9781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0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microsoft.com/office/2014/relationships/chartEx" Target="../charts/chartEx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49E968EB-B91A-7B65-B969-700AC62CF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5DFCEE-1642-2D95-6C5B-2227E3297977}"/>
              </a:ext>
            </a:extLst>
          </p:cNvPr>
          <p:cNvSpPr txBox="1"/>
          <p:nvPr/>
        </p:nvSpPr>
        <p:spPr>
          <a:xfrm>
            <a:off x="0" y="0"/>
            <a:ext cx="1219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Исследование продуктовых сетей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CBA9B8-D4AB-7CEC-19DB-AEA1DD811BF0}"/>
              </a:ext>
            </a:extLst>
          </p:cNvPr>
          <p:cNvSpPr txBox="1"/>
          <p:nvPr/>
        </p:nvSpPr>
        <p:spPr>
          <a:xfrm>
            <a:off x="0" y="6262275"/>
            <a:ext cx="86032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выполнила Коробкова Мария  в рамках курса по анализу данных</a:t>
            </a:r>
          </a:p>
        </p:txBody>
      </p:sp>
    </p:spTree>
    <p:extLst>
      <p:ext uri="{BB962C8B-B14F-4D97-AF65-F5344CB8AC3E}">
        <p14:creationId xmlns:p14="http://schemas.microsoft.com/office/powerpoint/2010/main" val="97156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317777EF-656F-4261-BBAF-DD8664BCBB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054896"/>
              </p:ext>
            </p:extLst>
          </p:nvPr>
        </p:nvGraphicFramePr>
        <p:xfrm>
          <a:off x="0" y="808892"/>
          <a:ext cx="6096000" cy="23899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8D127B1B-5FEA-4352-AA63-C5221FE4E291}"/>
              </a:ext>
              <a:ext uri="{147F2762-F138-4A5C-976F-8EAC2B608ADB}">
                <a16:predDERef xmlns:a16="http://schemas.microsoft.com/office/drawing/2014/main" pred="{0494A4E4-1C1F-4D14-ACF6-3EBA7205EF7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356287"/>
              </p:ext>
            </p:extLst>
          </p:nvPr>
        </p:nvGraphicFramePr>
        <p:xfrm>
          <a:off x="0" y="3429000"/>
          <a:ext cx="5894575" cy="351276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8004B19-17A4-9F5C-5E58-7ADB7114C7F9}"/>
              </a:ext>
            </a:extLst>
          </p:cNvPr>
          <p:cNvSpPr/>
          <p:nvPr/>
        </p:nvSpPr>
        <p:spPr>
          <a:xfrm>
            <a:off x="6297427" y="808892"/>
            <a:ext cx="5695281" cy="583809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Использованы формулы:</a:t>
            </a:r>
          </a:p>
          <a:p>
            <a:pPr algn="ctr"/>
            <a:endParaRPr lang="ru-RU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СУММЕСЛИМН - Агрегация продаж по магазинам и временным периодам</a:t>
            </a:r>
          </a:p>
          <a:p>
            <a:pPr algn="ctr"/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СРЗНАЧЕСЛИМН - Расчет среднего чека, среднего дисконта по сетям</a:t>
            </a:r>
          </a:p>
          <a:p>
            <a:pPr algn="ctr"/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СЧЁТЕСЛИМН - Подсчет количества транзакций для динамики</a:t>
            </a:r>
          </a:p>
          <a:p>
            <a:pPr algn="ctr"/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МЕСЯЦ, ТЕКСТ - Группировка данных по месяцам для графиков</a:t>
            </a:r>
          </a:p>
          <a:p>
            <a:pPr algn="ctr"/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ВПР - Подтягивание названий магазинов по кодам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FFC8402-4EF2-09F5-9015-F1C3FEFE8F82}"/>
              </a:ext>
            </a:extLst>
          </p:cNvPr>
          <p:cNvSpPr/>
          <p:nvPr/>
        </p:nvSpPr>
        <p:spPr>
          <a:xfrm>
            <a:off x="0" y="-68495"/>
            <a:ext cx="12192000" cy="877387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продаж продуктовых сетей</a:t>
            </a:r>
          </a:p>
        </p:txBody>
      </p:sp>
    </p:spTree>
    <p:extLst>
      <p:ext uri="{BB962C8B-B14F-4D97-AF65-F5344CB8AC3E}">
        <p14:creationId xmlns:p14="http://schemas.microsoft.com/office/powerpoint/2010/main" val="1120773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0494A4E4-1C1F-4D14-ACF6-3EBA7205EF72}"/>
              </a:ext>
              <a:ext uri="{147F2762-F138-4A5C-976F-8EAC2B608ADB}">
                <a16:predDERef xmlns:a16="http://schemas.microsoft.com/office/drawing/2014/main" pred="{317777EF-656F-4261-BBAF-DD8664BCBB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4990859"/>
              </p:ext>
            </p:extLst>
          </p:nvPr>
        </p:nvGraphicFramePr>
        <p:xfrm>
          <a:off x="4958862" y="808892"/>
          <a:ext cx="6945923" cy="60491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1943B39-5F5B-210C-ED51-F7B4A77DE08E}"/>
              </a:ext>
            </a:extLst>
          </p:cNvPr>
          <p:cNvSpPr/>
          <p:nvPr/>
        </p:nvSpPr>
        <p:spPr>
          <a:xfrm>
            <a:off x="0" y="-68495"/>
            <a:ext cx="12192000" cy="877387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продаж продуктовых сетей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B329E26-CF48-0404-15B6-6F3787F50EDA}"/>
              </a:ext>
            </a:extLst>
          </p:cNvPr>
          <p:cNvSpPr/>
          <p:nvPr/>
        </p:nvSpPr>
        <p:spPr>
          <a:xfrm>
            <a:off x="615462" y="808892"/>
            <a:ext cx="3727938" cy="60491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</a:p>
          <a:p>
            <a:pPr algn="ctr"/>
            <a:endParaRPr lang="ru-RU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400" i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Динамика продаж демонстрирует пик в марте 2024 года (59 975 у.е.) и снижение &gt;50% к маю (23 643 у.е.). «Пятерочка» даёт максимальный дисконт клиенту (−10%), «Лента» — минимальный (+10%). Лидер по GMV — «О'кей» (52 844 у.е.), замыкают рейтинг «Билла» и «Пятерочка» (&lt;28 тыс. у.е.).</a:t>
            </a:r>
          </a:p>
        </p:txBody>
      </p:sp>
    </p:spTree>
    <p:extLst>
      <p:ext uri="{BB962C8B-B14F-4D97-AF65-F5344CB8AC3E}">
        <p14:creationId xmlns:p14="http://schemas.microsoft.com/office/powerpoint/2010/main" val="614593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83A2B7D-ACE8-34E7-BBAC-855555B986BF}"/>
              </a:ext>
            </a:extLst>
          </p:cNvPr>
          <p:cNvSpPr/>
          <p:nvPr/>
        </p:nvSpPr>
        <p:spPr>
          <a:xfrm>
            <a:off x="0" y="-68495"/>
            <a:ext cx="12192000" cy="877387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поставщиков по объемам закупок</a:t>
            </a:r>
          </a:p>
        </p:txBody>
      </p:sp>
      <p:graphicFrame>
        <p:nvGraphicFramePr>
          <p:cNvPr id="9" name="Диаграмма 8">
            <a:extLst>
              <a:ext uri="{FF2B5EF4-FFF2-40B4-BE49-F238E27FC236}">
                <a16:creationId xmlns:a16="http://schemas.microsoft.com/office/drawing/2014/main" id="{B2C68772-CA9C-EBDA-A77D-35D0E8D1424F}"/>
              </a:ext>
              <a:ext uri="{147F2762-F138-4A5C-976F-8EAC2B608ADB}">
                <a16:predDERef xmlns:a16="http://schemas.microsoft.com/office/drawing/2014/main" pred="{8D127B1B-5FEA-4352-AA63-C5221FE4E29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1413338"/>
              </p:ext>
            </p:extLst>
          </p:nvPr>
        </p:nvGraphicFramePr>
        <p:xfrm>
          <a:off x="0" y="808892"/>
          <a:ext cx="12192000" cy="33524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9FEED9E-FBB6-66D2-6CC1-1162365F4C83}"/>
              </a:ext>
            </a:extLst>
          </p:cNvPr>
          <p:cNvSpPr/>
          <p:nvPr/>
        </p:nvSpPr>
        <p:spPr>
          <a:xfrm>
            <a:off x="492369" y="4161348"/>
            <a:ext cx="11482754" cy="26966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Использованы формулы:</a:t>
            </a:r>
          </a:p>
          <a:p>
            <a:pPr algn="ctr"/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СУММЕСЛИМН - Агрегация оборота по каждому поставщику</a:t>
            </a:r>
          </a:p>
          <a:p>
            <a:pPr algn="ctr"/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СРЗНАЧЕСЛИ - Расчет средней цены поставщика внутри категории</a:t>
            </a:r>
          </a:p>
          <a:p>
            <a:pPr algn="ctr"/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(Цена − Средняя по категории) / Средняя - Расчет отклонения цены поставщика от рыночной</a:t>
            </a:r>
          </a:p>
          <a:p>
            <a:pPr algn="ctr"/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ВПР - Связка товаров с поставщиками и категориями</a:t>
            </a:r>
          </a:p>
          <a:p>
            <a:pPr algn="ctr"/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ОКРУГЛ - Приведение процентов отклонения к читаемому виду</a:t>
            </a:r>
          </a:p>
        </p:txBody>
      </p:sp>
    </p:spTree>
    <p:extLst>
      <p:ext uri="{BB962C8B-B14F-4D97-AF65-F5344CB8AC3E}">
        <p14:creationId xmlns:p14="http://schemas.microsoft.com/office/powerpoint/2010/main" val="806683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F8CDAE1B-DE0F-4C17-A025-09D13E84EC5B}"/>
              </a:ext>
              <a:ext uri="{147F2762-F138-4A5C-976F-8EAC2B608ADB}">
                <a16:predDERef xmlns:a16="http://schemas.microsoft.com/office/drawing/2014/main" pred="{BD7AE1E6-726D-49C7-A780-F16E1CD3C9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2684750"/>
              </p:ext>
            </p:extLst>
          </p:nvPr>
        </p:nvGraphicFramePr>
        <p:xfrm>
          <a:off x="1" y="808891"/>
          <a:ext cx="12192000" cy="30597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04F0CA7-178B-61FF-E1C9-ECABBFDE98F0}"/>
              </a:ext>
            </a:extLst>
          </p:cNvPr>
          <p:cNvSpPr/>
          <p:nvPr/>
        </p:nvSpPr>
        <p:spPr>
          <a:xfrm>
            <a:off x="0" y="-68495"/>
            <a:ext cx="12192000" cy="877387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поставщиков по объемам закупок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2672904-4478-BFF9-4D9E-EA578156A30D}"/>
              </a:ext>
            </a:extLst>
          </p:cNvPr>
          <p:cNvSpPr/>
          <p:nvPr/>
        </p:nvSpPr>
        <p:spPr>
          <a:xfrm>
            <a:off x="0" y="3780690"/>
            <a:ext cx="12191999" cy="30773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Вывод: </a:t>
            </a:r>
          </a:p>
          <a:p>
            <a:pPr algn="ctr"/>
            <a:endParaRPr lang="ru-RU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Цены поставщиков сильно дифференцированы: премиум-сегмент (Green Garden — 369 руб., Дарница) </a:t>
            </a:r>
            <a:r>
              <a:rPr lang="ru-RU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ru-RU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масс-маркет (Tchibo — 140 руб., </a:t>
            </a:r>
            <a:r>
              <a:rPr lang="ru-RU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Hochland</a:t>
            </a:r>
            <a:r>
              <a:rPr lang="ru-RU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Оборот сконцентрирован у 3 лидеров: «Паста Зара», «Сырная долина», «Бабаевский» — это риск зависимости, но и возможность оптимизации ассортимента.</a:t>
            </a:r>
          </a:p>
        </p:txBody>
      </p:sp>
    </p:spTree>
    <p:extLst>
      <p:ext uri="{BB962C8B-B14F-4D97-AF65-F5344CB8AC3E}">
        <p14:creationId xmlns:p14="http://schemas.microsoft.com/office/powerpoint/2010/main" val="736451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8F0BFE98-0FF7-4779-90C6-CC9956B89BD2}"/>
              </a:ext>
              <a:ext uri="{147F2762-F138-4A5C-976F-8EAC2B608ADB}">
                <a16:predDERef xmlns:a16="http://schemas.microsoft.com/office/drawing/2014/main" pred="{F8CDAE1B-DE0F-4C17-A025-09D13E84EC5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63490438"/>
              </p:ext>
            </p:extLst>
          </p:nvPr>
        </p:nvGraphicFramePr>
        <p:xfrm>
          <a:off x="0" y="877387"/>
          <a:ext cx="12191999" cy="3129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2EA050D-6C6E-AFC1-259D-D39B7C220B8D}"/>
              </a:ext>
            </a:extLst>
          </p:cNvPr>
          <p:cNvSpPr/>
          <p:nvPr/>
        </p:nvSpPr>
        <p:spPr>
          <a:xfrm>
            <a:off x="0" y="0"/>
            <a:ext cx="12192000" cy="877387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продаж по категориям товаров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D352AEC-1D8C-F32B-D6AB-E42E0C8F93C2}"/>
              </a:ext>
            </a:extLst>
          </p:cNvPr>
          <p:cNvSpPr/>
          <p:nvPr/>
        </p:nvSpPr>
        <p:spPr>
          <a:xfrm>
            <a:off x="0" y="4255477"/>
            <a:ext cx="12192000" cy="2602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Использованы формулы:</a:t>
            </a:r>
            <a:endParaRPr lang="ru-RU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СУММЕСЛИ - Суммирование выручки по категориям</a:t>
            </a:r>
          </a:p>
          <a:p>
            <a:pPr algn="ctr"/>
            <a:r>
              <a:rPr lang="ru-RU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СРЗНАЧЕСЛИ - Расчет среднего количества единиц в чеке по категории</a:t>
            </a:r>
          </a:p>
          <a:p>
            <a:pPr algn="ctr"/>
            <a:r>
              <a:rPr lang="ru-RU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СОРТИРОВКА - Ранжирование категорий по GMV и частоте покупок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2088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988066A-010D-6275-0D27-D4057F0908D7}"/>
              </a:ext>
            </a:extLst>
          </p:cNvPr>
          <p:cNvSpPr/>
          <p:nvPr/>
        </p:nvSpPr>
        <p:spPr>
          <a:xfrm>
            <a:off x="0" y="0"/>
            <a:ext cx="12192000" cy="877387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продаж по категориям товаров</a:t>
            </a:r>
          </a:p>
        </p:txBody>
      </p:sp>
      <p:graphicFrame>
        <p:nvGraphicFramePr>
          <p:cNvPr id="4" name="Диаграмма 3">
            <a:extLst>
              <a:ext uri="{FF2B5EF4-FFF2-40B4-BE49-F238E27FC236}">
                <a16:creationId xmlns:a16="http://schemas.microsoft.com/office/drawing/2014/main" id="{75E4A9CB-AEB1-4E27-9000-9AF3D2F2B537}"/>
              </a:ext>
              <a:ext uri="{147F2762-F138-4A5C-976F-8EAC2B608ADB}">
                <a16:predDERef xmlns:a16="http://schemas.microsoft.com/office/drawing/2014/main" pred="{8F0BFE98-0FF7-4779-90C6-CC9956B89B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4068683"/>
              </p:ext>
            </p:extLst>
          </p:nvPr>
        </p:nvGraphicFramePr>
        <p:xfrm>
          <a:off x="0" y="877387"/>
          <a:ext cx="12191999" cy="32407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519D88B-6EEC-7E09-6AEC-08CA2B5CE3E4}"/>
              </a:ext>
            </a:extLst>
          </p:cNvPr>
          <p:cNvSpPr/>
          <p:nvPr/>
        </p:nvSpPr>
        <p:spPr>
          <a:xfrm>
            <a:off x="0" y="4118128"/>
            <a:ext cx="12191999" cy="273987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Вывод: </a:t>
            </a:r>
          </a:p>
          <a:p>
            <a:pPr algn="ctr"/>
            <a:r>
              <a:rPr lang="ru-RU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Категория «Макароны» — безоговорочный лидер (66 945 у.е.), «Колбаса» и «Рис» — аутсайдеры. Базовые категории (молоко, рис, овощи, сахар) покупают по 3+ единицы/чек — это драйверы частоты; сыр и крупы (2.6–2.7 шт.) имеют потенциал для </a:t>
            </a:r>
            <a:r>
              <a:rPr lang="ru-RU" sz="24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upsell</a:t>
            </a:r>
            <a:r>
              <a:rPr lang="ru-RU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9691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Диаграмма 2">
            <a:extLst>
              <a:ext uri="{FF2B5EF4-FFF2-40B4-BE49-F238E27FC236}">
                <a16:creationId xmlns:a16="http://schemas.microsoft.com/office/drawing/2014/main" id="{B6D37923-FC0F-4971-99BB-278B2918349A}"/>
              </a:ext>
              <a:ext uri="{147F2762-F138-4A5C-976F-8EAC2B608ADB}">
                <a16:predDERef xmlns:a16="http://schemas.microsoft.com/office/drawing/2014/main" pred="{75E4A9CB-AEB1-4E27-9000-9AF3D2F2B5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8971242"/>
              </p:ext>
            </p:extLst>
          </p:nvPr>
        </p:nvGraphicFramePr>
        <p:xfrm>
          <a:off x="0" y="877387"/>
          <a:ext cx="5380893" cy="2551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Диаграмма 4">
            <a:extLst>
              <a:ext uri="{FF2B5EF4-FFF2-40B4-BE49-F238E27FC236}">
                <a16:creationId xmlns:a16="http://schemas.microsoft.com/office/drawing/2014/main" id="{2369E0E8-D805-440E-BB16-D52A0D583275}"/>
              </a:ext>
              <a:ext uri="{147F2762-F138-4A5C-976F-8EAC2B608ADB}">
                <a16:predDERef xmlns:a16="http://schemas.microsoft.com/office/drawing/2014/main" pred="{680060E9-416B-4F28-A5FC-029361C7C1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8220888"/>
              </p:ext>
            </p:extLst>
          </p:nvPr>
        </p:nvGraphicFramePr>
        <p:xfrm>
          <a:off x="5380893" y="877387"/>
          <a:ext cx="6811107" cy="27093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Диаграмма 5">
            <a:extLst>
              <a:ext uri="{FF2B5EF4-FFF2-40B4-BE49-F238E27FC236}">
                <a16:creationId xmlns:a16="http://schemas.microsoft.com/office/drawing/2014/main" id="{7F71953B-F33C-4DD4-B4F1-3C18DDEB78BF}"/>
              </a:ext>
              <a:ext uri="{147F2762-F138-4A5C-976F-8EAC2B608ADB}">
                <a16:predDERef xmlns:a16="http://schemas.microsoft.com/office/drawing/2014/main" pred="{2369E0E8-D805-440E-BB16-D52A0D5832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4827744"/>
              </p:ext>
            </p:extLst>
          </p:nvPr>
        </p:nvGraphicFramePr>
        <p:xfrm>
          <a:off x="1" y="3570127"/>
          <a:ext cx="5380892" cy="32878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2FD38B8-4C4B-3AAA-FE92-1D9A7D6F82E4}"/>
              </a:ext>
            </a:extLst>
          </p:cNvPr>
          <p:cNvSpPr/>
          <p:nvPr/>
        </p:nvSpPr>
        <p:spPr>
          <a:xfrm>
            <a:off x="0" y="0"/>
            <a:ext cx="12192000" cy="877387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клиентов по географии и </a:t>
            </a:r>
            <a:r>
              <a:rPr lang="ru-RU" sz="3600" b="1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лайфтайму</a:t>
            </a:r>
            <a:endParaRPr lang="ru-RU" sz="3600" b="1" i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CEBE9F5-48DA-807C-DA50-87037BDC77D0}"/>
              </a:ext>
            </a:extLst>
          </p:cNvPr>
          <p:cNvSpPr/>
          <p:nvPr/>
        </p:nvSpPr>
        <p:spPr>
          <a:xfrm>
            <a:off x="5380893" y="3586706"/>
            <a:ext cx="6811106" cy="32712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Использованы формулы:</a:t>
            </a:r>
          </a:p>
          <a:p>
            <a:pPr algn="ctr"/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ПСТР, ЛЕВСИМВ - Извлечение кода страны из номера телефона</a:t>
            </a:r>
          </a:p>
          <a:p>
            <a:pPr algn="ctr"/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ВПР по таблице кодов - Определение страны клиента по префиксу</a:t>
            </a:r>
          </a:p>
          <a:p>
            <a:pPr algn="ctr"/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РАЗНДАТ - Расчет </a:t>
            </a:r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лайфтайма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дни/месяцы от регистрации до сегодня</a:t>
            </a:r>
          </a:p>
          <a:p>
            <a:pPr algn="ctr"/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СЧЁТЕСЛИ - Подсчет клиентов по странам и участию в лояльности</a:t>
            </a:r>
          </a:p>
          <a:p>
            <a:pPr algn="ctr"/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СУММЕСЛИМН - Расчет совокупной выручки и среднего чека по странам</a:t>
            </a:r>
          </a:p>
          <a:p>
            <a:pPr algn="ctr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531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Диаграмма 1">
            <a:extLst>
              <a:ext uri="{FF2B5EF4-FFF2-40B4-BE49-F238E27FC236}">
                <a16:creationId xmlns:a16="http://schemas.microsoft.com/office/drawing/2014/main" id="{CA91AF7A-F324-4A2D-A470-8E5B07234F80}"/>
              </a:ext>
              <a:ext uri="{147F2762-F138-4A5C-976F-8EAC2B608ADB}">
                <a16:predDERef xmlns:a16="http://schemas.microsoft.com/office/drawing/2014/main" pred="{7F71953B-F33C-4DD4-B4F1-3C18DDEB78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2887108"/>
              </p:ext>
            </p:extLst>
          </p:nvPr>
        </p:nvGraphicFramePr>
        <p:xfrm>
          <a:off x="6686550" y="877387"/>
          <a:ext cx="4972050" cy="2551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08E0A71-C633-8FC9-9C13-C60DB68037F7}"/>
              </a:ext>
            </a:extLst>
          </p:cNvPr>
          <p:cNvSpPr/>
          <p:nvPr/>
        </p:nvSpPr>
        <p:spPr>
          <a:xfrm>
            <a:off x="0" y="0"/>
            <a:ext cx="12192000" cy="877387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600" b="1" i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клиентов по географии и </a:t>
            </a:r>
            <a:r>
              <a:rPr lang="ru-RU" sz="3600" b="1" i="1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лайфтайму</a:t>
            </a:r>
            <a:endParaRPr lang="ru-RU" sz="3600" b="1" i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0" name="Диаграмма 9">
                <a:extLst>
                  <a:ext uri="{FF2B5EF4-FFF2-40B4-BE49-F238E27FC236}">
                    <a16:creationId xmlns:a16="http://schemas.microsoft.com/office/drawing/2014/main" id="{680060E9-416B-4F28-A5FC-029361C7C1B6}"/>
                  </a:ext>
                  <a:ext uri="{147F2762-F138-4A5C-976F-8EAC2B608ADB}">
                    <a16:predDERef xmlns:a16="http://schemas.microsoft.com/office/drawing/2014/main" pred="{C88010B7-00CF-4311-B5D4-2A8FB92BD642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12427552"/>
                  </p:ext>
                </p:extLst>
              </p:nvPr>
            </p:nvGraphicFramePr>
            <p:xfrm>
              <a:off x="0" y="877387"/>
              <a:ext cx="5505450" cy="272745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10" name="Диаграмма 9">
                <a:extLst>
                  <a:ext uri="{FF2B5EF4-FFF2-40B4-BE49-F238E27FC236}">
                    <a16:creationId xmlns:a16="http://schemas.microsoft.com/office/drawing/2014/main" id="{680060E9-416B-4F28-A5FC-029361C7C1B6}"/>
                  </a:ext>
                  <a:ext uri="{147F2762-F138-4A5C-976F-8EAC2B608ADB}">
                    <a16:predDERef xmlns:a16="http://schemas.microsoft.com/office/drawing/2014/main" pred="{C88010B7-00CF-4311-B5D4-2A8FB92BD64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877387"/>
                <a:ext cx="5505450" cy="27274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1" name="Диаграмма 10">
                <a:extLst>
                  <a:ext uri="{FF2B5EF4-FFF2-40B4-BE49-F238E27FC236}">
                    <a16:creationId xmlns:a16="http://schemas.microsoft.com/office/drawing/2014/main" id="{C88010B7-00CF-4311-B5D4-2A8FB92BD642}"/>
                  </a:ext>
                  <a:ext uri="{147F2762-F138-4A5C-976F-8EAC2B608ADB}">
                    <a16:predDERef xmlns:a16="http://schemas.microsoft.com/office/drawing/2014/main" pred="{7625B5F1-7416-4670-A7CF-771E9D16720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031294385"/>
                  </p:ext>
                </p:extLst>
              </p:nvPr>
            </p:nvGraphicFramePr>
            <p:xfrm>
              <a:off x="0" y="4114800"/>
              <a:ext cx="6105525" cy="24765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 xmlns="">
          <p:pic>
            <p:nvPicPr>
              <p:cNvPr id="11" name="Диаграмма 10">
                <a:extLst>
                  <a:ext uri="{FF2B5EF4-FFF2-40B4-BE49-F238E27FC236}">
                    <a16:creationId xmlns:a16="http://schemas.microsoft.com/office/drawing/2014/main" id="{C88010B7-00CF-4311-B5D4-2A8FB92BD642}"/>
                  </a:ext>
                  <a:ext uri="{147F2762-F138-4A5C-976F-8EAC2B608ADB}">
                    <a16:predDERef xmlns:a16="http://schemas.microsoft.com/office/drawing/2014/main" pred="{7625B5F1-7416-4670-A7CF-771E9D16720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4114800"/>
                <a:ext cx="6105525" cy="247650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5D36112-AA1F-4FD4-D4E9-C7CCA19F39C1}"/>
              </a:ext>
            </a:extLst>
          </p:cNvPr>
          <p:cNvSpPr/>
          <p:nvPr/>
        </p:nvSpPr>
        <p:spPr>
          <a:xfrm>
            <a:off x="6242538" y="3235569"/>
            <a:ext cx="5949462" cy="36224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Вывод:</a:t>
            </a:r>
          </a:p>
          <a:p>
            <a:pPr algn="ctr"/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Россия — приоритетный рынок: 146 клиентов (34% базы), 251 330 у.е. выручки (~48% оборота), средний чек ~800 руб. Программа лояльности охватывает 50% клиентов — есть резерв роста. Цикл вовлечения долгий: пик первых покупок на 400–500 день — нужны триггерные коммуникации. Топ-имена для персонализации: Феврония, Жанна, Василиса, Алевтина (по 6 упоминаний).</a:t>
            </a:r>
          </a:p>
        </p:txBody>
      </p:sp>
    </p:spTree>
    <p:extLst>
      <p:ext uri="{BB962C8B-B14F-4D97-AF65-F5344CB8AC3E}">
        <p14:creationId xmlns:p14="http://schemas.microsoft.com/office/powerpoint/2010/main" val="1171516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6927D76B-C2D7-E2E1-C8EA-71A656227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353F50-0E1B-D756-13BC-B138BFAA76B1}"/>
              </a:ext>
            </a:extLst>
          </p:cNvPr>
          <p:cNvSpPr txBox="1"/>
          <p:nvPr/>
        </p:nvSpPr>
        <p:spPr>
          <a:xfrm>
            <a:off x="1055078" y="0"/>
            <a:ext cx="951327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Спасибо за внимание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CC23A47-F1C7-1B76-474D-3535022DEE3D}"/>
              </a:ext>
            </a:extLst>
          </p:cNvPr>
          <p:cNvSpPr/>
          <p:nvPr/>
        </p:nvSpPr>
        <p:spPr>
          <a:xfrm>
            <a:off x="1" y="6304546"/>
            <a:ext cx="4899258" cy="5534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Коробкова Мария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maria.vesna79@gmail.com</a:t>
            </a:r>
            <a:r>
              <a:rPr lang="ru-RU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859973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577</Words>
  <Application>Microsoft Office PowerPoint</Application>
  <PresentationFormat>Широкоэкранный</PresentationFormat>
  <Paragraphs>64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zolotay79@gmail.com</dc:creator>
  <cp:lastModifiedBy>zolotay79@gmail.com</cp:lastModifiedBy>
  <cp:revision>4</cp:revision>
  <dcterms:created xsi:type="dcterms:W3CDTF">2026-02-20T08:50:05Z</dcterms:created>
  <dcterms:modified xsi:type="dcterms:W3CDTF">2026-02-22T13:30:43Z</dcterms:modified>
</cp:coreProperties>
</file>